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10104120" cy="685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003366"/>
                </a:solidFill>
                <a:latin typeface="Noto Sans"/>
              </a:rPr>
              <a:t>PROGRAMAÇÃO DE SOFTWARE BÁSICO EM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54680"/>
            <a:ext cx="9738360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2300" b="1">
                <a:solidFill>
                  <a:srgbClr val="0099FF"/>
                </a:solidFill>
                <a:latin typeface="Noto Sans"/>
              </a:rPr>
              <a:t>Aula 2 — Bibliotecas, modularização, data, hora e gráficos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4736592"/>
            <a:ext cx="388620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00" b="0">
                <a:solidFill>
                  <a:srgbClr val="202020"/>
                </a:solidFill>
                <a:latin typeface="Noto Sans"/>
              </a:rPr>
              <a:t>Prof. Ms. Dionizio Porfírio de Assis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Bibliotecas e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Roteiro técnico da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1874519"/>
            <a:ext cx="111556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0">
                <a:solidFill>
                  <a:srgbClr val="202020"/>
                </a:solidFill>
                <a:latin typeface="Noto Sans"/>
              </a:rPr>
              <a:t>A aula usa conceitos curtos como suporte para cinco momentos de programação em tempo real.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14600"/>
            <a:ext cx="2514600" cy="196596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633472"/>
            <a:ext cx="21854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1. Bibliotecas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035808"/>
            <a:ext cx="2185416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>
                <a:solidFill>
                  <a:srgbClr val="202020"/>
                </a:solidFill>
                <a:latin typeface="Noto Sans"/>
              </a:rPr>
              <a:t>Reuso, cabeçalhos, compilação e linkedição.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2514600"/>
            <a:ext cx="2514600" cy="196596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0" y="2633472"/>
            <a:ext cx="21854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2. Modularização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035808"/>
            <a:ext cx="2185416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>
                <a:solidFill>
                  <a:srgbClr val="202020"/>
                </a:solidFill>
                <a:latin typeface="Noto Sans"/>
              </a:rPr>
              <a:t>Separar interface, implementação e programa principal.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216" y="2514600"/>
            <a:ext cx="2514600" cy="196596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64807" y="2633472"/>
            <a:ext cx="21854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3. Data e hora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035808"/>
            <a:ext cx="2185416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>
                <a:solidFill>
                  <a:srgbClr val="202020"/>
                </a:solidFill>
                <a:latin typeface="Noto Sans"/>
              </a:rPr>
              <a:t>time.h, time_t, struct tm e strftime().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4" y="2514600"/>
            <a:ext cx="2514600" cy="1965960"/>
          </a:xfrm>
          <a:prstGeom prst="roundRect">
            <a:avLst/>
          </a:prstGeom>
          <a:solidFill>
            <a:srgbClr val="F6F0FC"/>
          </a:solidFill>
          <a:ln w="15240">
            <a:solidFill>
              <a:srgbClr val="7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63456" y="2633472"/>
            <a:ext cx="21854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4. Gráficos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3035808"/>
            <a:ext cx="2185416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>
                <a:solidFill>
                  <a:srgbClr val="202020"/>
                </a:solidFill>
                <a:latin typeface="Noto Sans"/>
              </a:rPr>
              <a:t>Bibliotecas gráficas, coordenadas e graphics.h.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166360"/>
            <a:ext cx="1092708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03366"/>
                </a:solidFill>
                <a:latin typeface="Noto Sans"/>
              </a:rPr>
              <a:t>Meta prática: entender o conceito e imediatamente usá-lo em código.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Bibliotecas e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Por que bibliotecas existem?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1874519"/>
            <a:ext cx="653796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0">
                <a:solidFill>
                  <a:srgbClr val="202020"/>
                </a:solidFill>
                <a:latin typeface="Noto Sans"/>
              </a:rPr>
              <a:t>Sem bibliotecas, cada programa teria de reimplementar rotinas já resolvidas: entrada/saída, manipulação de caracteres, data/hora, gráficos, rede e muito mais.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63240"/>
            <a:ext cx="6263640" cy="205740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200"/>
              </a:spcAft>
              <a:defRPr sz="1620">
                <a:solidFill>
                  <a:srgbClr val="202020"/>
                </a:solidFill>
                <a:latin typeface="Noto Sans"/>
              </a:defRPr>
            </a:pPr>
            <a:r>
              <a:t>• Reutilização de código testado.</a:t>
            </a:r>
          </a:p>
          <a:p>
            <a:pPr>
              <a:spcAft>
                <a:spcPts val="200"/>
              </a:spcAft>
              <a:defRPr sz="1620">
                <a:solidFill>
                  <a:srgbClr val="202020"/>
                </a:solidFill>
                <a:latin typeface="Noto Sans"/>
              </a:defRPr>
            </a:pPr>
            <a:r>
              <a:t>• Separação de responsabilidades.</a:t>
            </a:r>
          </a:p>
          <a:p>
            <a:pPr>
              <a:spcAft>
                <a:spcPts val="200"/>
              </a:spcAft>
              <a:defRPr sz="1620">
                <a:solidFill>
                  <a:srgbClr val="202020"/>
                </a:solidFill>
                <a:latin typeface="Noto Sans"/>
              </a:defRPr>
            </a:pPr>
            <a:r>
              <a:t>• Padronização de interfaces.</a:t>
            </a:r>
          </a:p>
          <a:p>
            <a:pPr>
              <a:spcAft>
                <a:spcPts val="200"/>
              </a:spcAft>
              <a:defRPr sz="1620">
                <a:solidFill>
                  <a:srgbClr val="202020"/>
                </a:solidFill>
                <a:latin typeface="Noto Sans"/>
              </a:defRPr>
            </a:pPr>
            <a:r>
              <a:t>• Facilidade de manutenção e evolução.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2148840"/>
            <a:ext cx="4160520" cy="242316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42631" y="2267712"/>
            <a:ext cx="3831335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Problema técnico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1" y="2670048"/>
            <a:ext cx="3831335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0">
                <a:solidFill>
                  <a:srgbClr val="202020"/>
                </a:solidFill>
                <a:latin typeface="Noto Sans"/>
              </a:rPr>
              <a:t>Um sistema precisa mostrar a data atual. Faz sentido escrever do zero o código que consulta o relógio do sistema operacional?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892040"/>
            <a:ext cx="3977639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b="1">
                <a:solidFill>
                  <a:srgbClr val="003366"/>
                </a:solidFill>
                <a:latin typeface="Noto Sans"/>
              </a:rPr>
              <a:t>A biblioteca fornece uma interface pronta para acessar uma funcionalidade já implementada.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Bibliotecas e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Cabeçalho, implementação e biblioteca: papéis diferentes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65960"/>
            <a:ext cx="3383280" cy="224028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084831"/>
            <a:ext cx="30540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Arquivo de cabeçalho (.h)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487168"/>
            <a:ext cx="3054096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Declara tipos, macros e protótipos. Diz ao compilador como uma função deve ser chamada.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1965960"/>
            <a:ext cx="3383280" cy="224028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084831"/>
            <a:ext cx="30540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Implementação (.c)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87168"/>
            <a:ext cx="3054096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Contém o corpo das funções. Pode ser compilada separadamente em código-objeto.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2752" y="1965960"/>
            <a:ext cx="3383280" cy="2240280"/>
          </a:xfrm>
          <a:prstGeom prst="roundRect">
            <a:avLst/>
          </a:prstGeom>
          <a:solidFill>
            <a:srgbClr val="F6F0FC"/>
          </a:solidFill>
          <a:ln w="15240">
            <a:solidFill>
              <a:srgbClr val="7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67344" y="2084831"/>
            <a:ext cx="30540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Biblioteca / objeto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487168"/>
            <a:ext cx="3054096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Código já compilado que será combinado ao programa durante a linkedição.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92040"/>
            <a:ext cx="1083564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Noto Sans"/>
              </a:rPr>
              <a:t>#include não “cola uma biblioteca inteira” no executável: ele atua no pré-processamento, normalmente inserindo declarações do cabeçalho.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Compilação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Do código-fonte ao programa executável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" y="2423160"/>
            <a:ext cx="1920240" cy="141732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254203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3366"/>
                </a:solidFill>
                <a:latin typeface="Noto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14600"/>
            <a:ext cx="144475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Noto Sans"/>
              </a:rPr>
              <a:t>Pré-processador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99232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50" b="0">
                <a:solidFill>
                  <a:srgbClr val="202020"/>
                </a:solidFill>
                <a:latin typeface="Noto Sans"/>
              </a:rPr>
              <a:t>#include, #define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77440" y="3127248"/>
            <a:ext cx="274320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651760" y="2423160"/>
            <a:ext cx="2103120" cy="141732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16352" y="254203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3366"/>
                </a:solidFill>
                <a:latin typeface="Noto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514600"/>
            <a:ext cx="144475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Noto Sans"/>
              </a:rPr>
              <a:t>Compilador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999232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50" b="0">
                <a:solidFill>
                  <a:srgbClr val="202020"/>
                </a:solidFill>
                <a:latin typeface="Noto Sans"/>
              </a:rPr>
              <a:t>C → assembly/objeto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63440" y="3127248"/>
            <a:ext cx="274320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01768" y="2423160"/>
            <a:ext cx="1947672" cy="141732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02352" y="254203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3366"/>
                </a:solidFill>
                <a:latin typeface="Noto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514600"/>
            <a:ext cx="144475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Noto Sans"/>
              </a:rPr>
              <a:t>Montador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2999232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50" b="0">
                <a:solidFill>
                  <a:srgbClr val="202020"/>
                </a:solidFill>
                <a:latin typeface="Noto Sans"/>
              </a:rPr>
              <a:t>assembly → .o/.obj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49440" y="3127248"/>
            <a:ext cx="274320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15200" y="2423160"/>
            <a:ext cx="1920240" cy="1417320"/>
          </a:xfrm>
          <a:prstGeom prst="roundRect">
            <a:avLst/>
          </a:prstGeom>
          <a:solidFill>
            <a:srgbClr val="F6F0FC"/>
          </a:solidFill>
          <a:ln w="15240">
            <a:solidFill>
              <a:srgbClr val="7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88352" y="254203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3366"/>
                </a:solidFill>
                <a:latin typeface="Noto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514600"/>
            <a:ext cx="144475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Noto Sans"/>
              </a:rPr>
              <a:t>Linker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2999232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50" b="0">
                <a:solidFill>
                  <a:srgbClr val="202020"/>
                </a:solidFill>
                <a:latin typeface="Noto Sans"/>
              </a:rPr>
              <a:t>objetos + bibliotecas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235440" y="3127248"/>
            <a:ext cx="274320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601200" y="2423160"/>
            <a:ext cx="1920240" cy="141732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74352" y="2542032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3366"/>
                </a:solidFill>
                <a:latin typeface="Noto San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514600"/>
            <a:ext cx="1444752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Noto Sans"/>
              </a:rPr>
              <a:t>Executável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2999232"/>
            <a:ext cx="16459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50" b="0">
                <a:solidFill>
                  <a:srgbClr val="202020"/>
                </a:solidFill>
                <a:latin typeface="Noto Sans"/>
              </a:rPr>
              <a:t>programa final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4663440"/>
            <a:ext cx="10789920" cy="960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202020"/>
                </a:solidFill>
                <a:latin typeface="Noto Sans"/>
              </a:rPr>
              <a:t>Erro de compilação ≠ erro de linkedição. “undefined reference” normalmente indica que a função foi declarada, mas sua implementação não foi encontrada pelo linker.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Bibliotecas e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A diretiva #include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2011680"/>
            <a:ext cx="4754880" cy="141732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121408"/>
            <a:ext cx="4480560" cy="11978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900">
                <a:solidFill>
                  <a:srgbClr val="1F2937"/>
                </a:solidFill>
                <a:latin typeface="DejaVu Sans Mono"/>
              </a:rPr>
              <a:t>#include &lt;stdio.h&gt;
#include "conversoes.h"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874519"/>
            <a:ext cx="2697480" cy="214884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9592" y="1993391"/>
            <a:ext cx="23682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&lt;arquivo.h&gt;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395727"/>
            <a:ext cx="2368296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Busca principalmente nos diretórios configurados do compilador. Usado em cabeçalhos do sistema e bibliotecas instaladas.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874519"/>
            <a:ext cx="2697480" cy="214884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42832" y="1993391"/>
            <a:ext cx="23682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"arquivo.h"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2832" y="2395727"/>
            <a:ext cx="2368296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Procura primeiro no projeto/diretório local e depois nos caminhos configurados.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709160"/>
            <a:ext cx="1083564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50" b="1">
                <a:solidFill>
                  <a:srgbClr val="003366"/>
                </a:solidFill>
                <a:latin typeface="Noto Sans"/>
              </a:rPr>
              <a:t>O cabeçalho apresenta a interface ao compilador. A implementação precisa existir em outro arquivo-fonte, objeto ou biblioteca vinculada ao projeto.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Bibliotecas padrão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Live coding 1 — Usando uma biblioteca padrão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01952"/>
            <a:ext cx="1481328" cy="347472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138988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</a:rPr>
              <a:t>LIVE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95728"/>
            <a:ext cx="1828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Noto Sans"/>
              </a:rPr>
              <a:t>Problema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61488"/>
            <a:ext cx="5577840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 dirty="0">
                <a:solidFill>
                  <a:srgbClr val="202020"/>
                </a:solidFill>
                <a:latin typeface="Noto Sans"/>
              </a:rPr>
              <a:t>Dado um </a:t>
            </a:r>
            <a:r>
              <a:rPr sz="1700" b="0" dirty="0" err="1">
                <a:solidFill>
                  <a:srgbClr val="202020"/>
                </a:solidFill>
                <a:latin typeface="Noto Sans"/>
              </a:rPr>
              <a:t>caractere</a:t>
            </a:r>
            <a:r>
              <a:rPr sz="1700" b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dirty="0" err="1">
                <a:solidFill>
                  <a:srgbClr val="202020"/>
                </a:solidFill>
                <a:latin typeface="Noto Sans"/>
              </a:rPr>
              <a:t>fixo</a:t>
            </a:r>
            <a:r>
              <a:rPr sz="1700" b="0" dirty="0">
                <a:solidFill>
                  <a:srgbClr val="202020"/>
                </a:solidFill>
                <a:latin typeface="Noto Sans"/>
              </a:rPr>
              <a:t> no </a:t>
            </a:r>
            <a:r>
              <a:rPr sz="1700" b="0" dirty="0" err="1">
                <a:solidFill>
                  <a:srgbClr val="202020"/>
                </a:solidFill>
                <a:latin typeface="Noto Sans"/>
              </a:rPr>
              <a:t>código</a:t>
            </a:r>
            <a:r>
              <a:rPr sz="1700" b="0" dirty="0">
                <a:solidFill>
                  <a:srgbClr val="202020"/>
                </a:solidFill>
                <a:latin typeface="Noto Sans"/>
              </a:rPr>
              <a:t>, converter para </a:t>
            </a:r>
            <a:r>
              <a:rPr sz="1700" b="0" dirty="0" err="1">
                <a:solidFill>
                  <a:srgbClr val="202020"/>
                </a:solidFill>
                <a:latin typeface="Noto Sans"/>
              </a:rPr>
              <a:t>maiúsculo</a:t>
            </a:r>
            <a:r>
              <a:rPr sz="1700" b="0" dirty="0">
                <a:solidFill>
                  <a:srgbClr val="202020"/>
                </a:solidFill>
                <a:latin typeface="Noto Sans"/>
              </a:rPr>
              <a:t> e </a:t>
            </a:r>
            <a:r>
              <a:rPr sz="1700" b="0" dirty="0" err="1">
                <a:solidFill>
                  <a:srgbClr val="202020"/>
                </a:solidFill>
                <a:latin typeface="Noto Sans"/>
              </a:rPr>
              <a:t>informar</a:t>
            </a:r>
            <a:r>
              <a:rPr sz="1700" b="0" dirty="0">
                <a:solidFill>
                  <a:srgbClr val="202020"/>
                </a:solidFill>
                <a:latin typeface="Noto Sans"/>
              </a:rPr>
              <a:t> se </a:t>
            </a:r>
            <a:r>
              <a:rPr sz="1700" b="0" dirty="0" err="1">
                <a:solidFill>
                  <a:srgbClr val="202020"/>
                </a:solidFill>
                <a:latin typeface="Noto Sans"/>
              </a:rPr>
              <a:t>ele</a:t>
            </a:r>
            <a:r>
              <a:rPr sz="1700" b="0" dirty="0">
                <a:solidFill>
                  <a:srgbClr val="202020"/>
                </a:solidFill>
                <a:latin typeface="Noto Sans"/>
              </a:rPr>
              <a:t> é </a:t>
            </a:r>
            <a:r>
              <a:rPr sz="1700" b="0" dirty="0" err="1">
                <a:solidFill>
                  <a:srgbClr val="202020"/>
                </a:solidFill>
                <a:latin typeface="Noto Sans"/>
              </a:rPr>
              <a:t>uma</a:t>
            </a:r>
            <a:r>
              <a:rPr sz="1700" b="0" dirty="0">
                <a:solidFill>
                  <a:srgbClr val="202020"/>
                </a:solidFill>
                <a:latin typeface="Noto Sans"/>
              </a:rPr>
              <a:t> </a:t>
            </a:r>
            <a:r>
              <a:rPr sz="1700" b="0" dirty="0" err="1">
                <a:solidFill>
                  <a:srgbClr val="202020"/>
                </a:solidFill>
                <a:latin typeface="Noto Sans"/>
              </a:rPr>
              <a:t>letra</a:t>
            </a:r>
            <a:r>
              <a:rPr sz="1700" b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395728"/>
            <a:ext cx="18288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Noto Sans"/>
              </a:rPr>
              <a:t>Bibliotecas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788920"/>
            <a:ext cx="2103120" cy="105156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898648"/>
            <a:ext cx="1828799" cy="832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>
                <a:solidFill>
                  <a:srgbClr val="1F2937"/>
                </a:solidFill>
                <a:latin typeface="DejaVu Sans Mono"/>
              </a:rPr>
              <a:t>&lt;stdio.h&gt;
&lt;ctype.h&gt;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395728"/>
            <a:ext cx="214884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Noto Sans"/>
              </a:rPr>
              <a:t>Funções a descobrir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39" y="2948006"/>
            <a:ext cx="2103120" cy="105156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25129" y="3037383"/>
            <a:ext cx="1828799" cy="83210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800" dirty="0" err="1">
                <a:solidFill>
                  <a:srgbClr val="1F2937"/>
                </a:solidFill>
                <a:latin typeface="DejaVu Sans Mono"/>
              </a:rPr>
              <a:t>isalpha</a:t>
            </a:r>
            <a:r>
              <a:rPr sz="1800" dirty="0">
                <a:solidFill>
                  <a:srgbClr val="1F2937"/>
                </a:solidFill>
                <a:latin typeface="DejaVu Sans Mono"/>
              </a:rPr>
              <a:t>()
</a:t>
            </a:r>
            <a:r>
              <a:rPr sz="1800" dirty="0" err="1">
                <a:solidFill>
                  <a:srgbClr val="1F2937"/>
                </a:solidFill>
                <a:latin typeface="DejaVu Sans Mono"/>
              </a:rPr>
              <a:t>toupper</a:t>
            </a:r>
            <a:r>
              <a:rPr sz="1800" dirty="0">
                <a:solidFill>
                  <a:srgbClr val="1F2937"/>
                </a:solidFill>
                <a:latin typeface="DejaVu Sans Mono"/>
              </a:rPr>
              <a:t>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251960"/>
            <a:ext cx="4572000" cy="1449324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11112" y="4370832"/>
            <a:ext cx="4242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Objetivo do live 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773168"/>
            <a:ext cx="4242816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30" b="0">
                <a:solidFill>
                  <a:srgbClr val="202020"/>
                </a:solidFill>
                <a:latin typeface="Noto Sans"/>
              </a:rPr>
              <a:t>Mostrar que a biblioteca entrega funções reutilizáveis sem expor sua implementação interna.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Modularização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Separando interface e implementação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1856231"/>
            <a:ext cx="109728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20" b="0">
                <a:solidFill>
                  <a:srgbClr val="202020"/>
                </a:solidFill>
                <a:latin typeface="Noto Sans"/>
              </a:rPr>
              <a:t>Em um programa maior, manter tudo em main.c dificulta reutilização, testes e manutenção. Um módulo pode expor apenas o que outros arquivos precisam utilizar.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88920"/>
            <a:ext cx="3017520" cy="132588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971800"/>
            <a:ext cx="265176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3366"/>
                </a:solidFill>
                <a:latin typeface="Noto Sans"/>
              </a:rPr>
              <a:t>main.c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56432"/>
            <a:ext cx="26517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50" b="0">
                <a:solidFill>
                  <a:srgbClr val="202020"/>
                </a:solidFill>
                <a:latin typeface="Noto Sans"/>
              </a:rPr>
              <a:t>Usa as funções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2788920"/>
            <a:ext cx="3017520" cy="132588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2971800"/>
            <a:ext cx="265176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3366"/>
                </a:solidFill>
                <a:latin typeface="Noto Sans"/>
              </a:rPr>
              <a:t>conversoes.h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56432"/>
            <a:ext cx="26517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50" b="0">
                <a:solidFill>
                  <a:srgbClr val="202020"/>
                </a:solidFill>
                <a:latin typeface="Noto Sans"/>
              </a:rPr>
              <a:t>Declara protótipos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788920"/>
            <a:ext cx="3017520" cy="132588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59" y="2971800"/>
            <a:ext cx="265176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800" b="1">
                <a:solidFill>
                  <a:srgbClr val="003366"/>
                </a:solidFill>
                <a:latin typeface="Noto Sans"/>
              </a:rPr>
              <a:t>conversoes.c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3456432"/>
            <a:ext cx="265176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50" b="0">
                <a:solidFill>
                  <a:srgbClr val="202020"/>
                </a:solidFill>
                <a:latin typeface="Noto Sans"/>
              </a:rPr>
              <a:t>Implementa funções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49039" y="3456432"/>
            <a:ext cx="822961" cy="0"/>
          </a:xfrm>
          <a:prstGeom prst="line">
            <a:avLst/>
          </a:prstGeom>
          <a:ln w="25400">
            <a:solidFill>
              <a:srgbClr val="009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89520" y="3456432"/>
            <a:ext cx="822960" cy="0"/>
          </a:xfrm>
          <a:prstGeom prst="line">
            <a:avLst/>
          </a:prstGeom>
          <a:ln w="25400">
            <a:solidFill>
              <a:srgbClr val="31C0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4754880"/>
            <a:ext cx="107899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Noto Sans"/>
              </a:rPr>
              <a:t>Interface pública → protótipos no .h | Implementação → corpos das funções no .c | Programa principal → inclui o .h e chama as funções.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Modularização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Live coding 2 — Criando um módulo próprio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01952"/>
            <a:ext cx="1481328" cy="347472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138988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</a:rPr>
              <a:t>LIVE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95728"/>
            <a:ext cx="16459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Noto Sans"/>
              </a:rPr>
              <a:t>Problema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61488"/>
            <a:ext cx="5212080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202020"/>
                </a:solidFill>
                <a:latin typeface="Noto Sans"/>
              </a:rPr>
              <a:t>Criar um pequeno módulo de conversão de temperatura e utilizá-lo em um programa principal.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2185662"/>
            <a:ext cx="1691640" cy="2020578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11241" y="2475331"/>
            <a:ext cx="1447798" cy="5447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 dirty="0">
                <a:solidFill>
                  <a:srgbClr val="003366"/>
                </a:solidFill>
                <a:latin typeface="Noto Sans"/>
              </a:rPr>
              <a:t>1. </a:t>
            </a:r>
            <a:r>
              <a:rPr sz="1650" b="1" dirty="0" err="1">
                <a:solidFill>
                  <a:srgbClr val="003366"/>
                </a:solidFill>
                <a:latin typeface="Noto Sans"/>
              </a:rPr>
              <a:t>conversoes.h</a:t>
            </a:r>
            <a:endParaRPr sz="1650" b="1" dirty="0">
              <a:solidFill>
                <a:srgbClr val="003366"/>
              </a:solidFill>
              <a:latin typeface="Noto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11241" y="3150354"/>
            <a:ext cx="1362456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 err="1">
                <a:solidFill>
                  <a:srgbClr val="202020"/>
                </a:solidFill>
                <a:latin typeface="Noto Sans"/>
              </a:rPr>
              <a:t>Protótipos</a:t>
            </a:r>
            <a:r>
              <a:rPr sz="1400" b="0" dirty="0">
                <a:solidFill>
                  <a:srgbClr val="202020"/>
                </a:solidFill>
                <a:latin typeface="Noto Sans"/>
              </a:rPr>
              <a:t> das </a:t>
            </a:r>
            <a:r>
              <a:rPr sz="1400" b="0" dirty="0" err="1">
                <a:solidFill>
                  <a:srgbClr val="202020"/>
                </a:solidFill>
                <a:latin typeface="Noto Sans"/>
              </a:rPr>
              <a:t>funções</a:t>
            </a:r>
            <a:r>
              <a:rPr sz="1400" b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2148840"/>
            <a:ext cx="1691640" cy="205740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4152" y="2267712"/>
            <a:ext cx="13624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 dirty="0">
                <a:solidFill>
                  <a:srgbClr val="003366"/>
                </a:solidFill>
                <a:latin typeface="Noto Sans"/>
              </a:rPr>
              <a:t>2. </a:t>
            </a:r>
            <a:r>
              <a:rPr sz="1650" b="1" dirty="0" err="1">
                <a:solidFill>
                  <a:srgbClr val="003366"/>
                </a:solidFill>
                <a:latin typeface="Noto Sans"/>
              </a:rPr>
              <a:t>conversoes.c</a:t>
            </a:r>
            <a:endParaRPr sz="1650" b="1" dirty="0">
              <a:solidFill>
                <a:srgbClr val="003366"/>
              </a:solidFill>
              <a:latin typeface="Noto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74152" y="3081528"/>
            <a:ext cx="1362456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dirty="0" err="1">
                <a:solidFill>
                  <a:srgbClr val="202020"/>
                </a:solidFill>
                <a:latin typeface="Noto Sans"/>
              </a:rPr>
              <a:t>Implementação</a:t>
            </a:r>
            <a:r>
              <a:rPr sz="1400" b="0" dirty="0">
                <a:solidFill>
                  <a:srgbClr val="202020"/>
                </a:solidFill>
                <a:latin typeface="Noto Sans"/>
              </a:rPr>
              <a:t> das </a:t>
            </a:r>
            <a:r>
              <a:rPr sz="1400" b="0" dirty="0" err="1">
                <a:solidFill>
                  <a:srgbClr val="202020"/>
                </a:solidFill>
                <a:latin typeface="Noto Sans"/>
              </a:rPr>
              <a:t>conversões</a:t>
            </a:r>
            <a:r>
              <a:rPr sz="1400" b="0" dirty="0">
                <a:solidFill>
                  <a:srgbClr val="202020"/>
                </a:solidFill>
                <a:latin typeface="Noto Sans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148840"/>
            <a:ext cx="1691640" cy="205740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94392" y="2267712"/>
            <a:ext cx="13624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3. main.c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2670048"/>
            <a:ext cx="1362456" cy="1417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Noto Sans"/>
              </a:rPr>
              <a:t>Chama o módulo e mostra resultados.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389120"/>
            <a:ext cx="5669280" cy="100584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4498848"/>
            <a:ext cx="5394960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>
                <a:solidFill>
                  <a:srgbClr val="1F2937"/>
                </a:solidFill>
                <a:latin typeface="DejaVu Sans Mono"/>
              </a:rPr>
              <a:t>gcc main.c conversoes.c -o conversor.exe
.\conversor.exe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572000"/>
            <a:ext cx="457200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003366"/>
                </a:solidFill>
                <a:latin typeface="Noto Sans"/>
              </a:rPr>
              <a:t>O comando compila os dois arquivos-fonte e o linker combina os objetos em um único executável.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Modularização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Exercício rápido — amplie o módulo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01952"/>
            <a:ext cx="1325880" cy="34747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</a:rPr>
              <a:t>EXERCÍCIO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68880"/>
            <a:ext cx="493776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Noto Sans"/>
              </a:rPr>
              <a:t>Adicione ao módulo uma nova função: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26080"/>
            <a:ext cx="5029200" cy="6858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035808"/>
            <a:ext cx="4754880" cy="466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00">
                <a:solidFill>
                  <a:srgbClr val="1F2937"/>
                </a:solidFill>
                <a:latin typeface="DejaVu Sans Mono"/>
              </a:rPr>
              <a:t>double celsius_para_kelvin(double c);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423160"/>
            <a:ext cx="5349240" cy="224028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202020"/>
                </a:solidFill>
                <a:latin typeface="Noto Sans"/>
              </a:defRPr>
            </a:pPr>
            <a:r>
              <a:t>• Declare o protótipo em conversoes.h.</a:t>
            </a:r>
          </a:p>
          <a:p>
            <a:pPr>
              <a:spcAft>
                <a:spcPts val="200"/>
              </a:spcAft>
              <a:defRPr sz="1600">
                <a:solidFill>
                  <a:srgbClr val="202020"/>
                </a:solidFill>
                <a:latin typeface="Noto Sans"/>
              </a:defRPr>
            </a:pPr>
            <a:r>
              <a:t>• Implemente a função em conversoes.c.</a:t>
            </a:r>
          </a:p>
          <a:p>
            <a:pPr>
              <a:spcAft>
                <a:spcPts val="200"/>
              </a:spcAft>
              <a:defRPr sz="1600">
                <a:solidFill>
                  <a:srgbClr val="202020"/>
                </a:solidFill>
                <a:latin typeface="Noto Sans"/>
              </a:defRPr>
            </a:pPr>
            <a:r>
              <a:t>• Chame a função em main.c.</a:t>
            </a:r>
          </a:p>
          <a:p>
            <a:pPr>
              <a:spcAft>
                <a:spcPts val="200"/>
              </a:spcAft>
              <a:defRPr sz="1600">
                <a:solidFill>
                  <a:srgbClr val="202020"/>
                </a:solidFill>
                <a:latin typeface="Noto Sans"/>
              </a:defRPr>
            </a:pPr>
            <a:r>
              <a:t>• Compile novamente sem alterar o comando.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51960"/>
            <a:ext cx="4846320" cy="114300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4370832"/>
            <a:ext cx="45171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Critério de sucesso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773168"/>
            <a:ext cx="451713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25 °C deve resultar em aproximadamente 298,15 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4956048"/>
            <a:ext cx="53035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6600"/>
                </a:solidFill>
                <a:latin typeface="Noto Sans"/>
              </a:rPr>
              <a:t>Pergunta: por que main.c não precisa conhecer a fórmula usada dentro de conversoes.c?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Compilação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Quando “compila”, mas não gera o executável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8640" y="2011680"/>
            <a:ext cx="3474720" cy="224028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130552"/>
            <a:ext cx="31455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Erro de sintaxe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532888"/>
            <a:ext cx="3145536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O compilador não consegue interpretar o código-fonte. Ex.: ponto e vírgula ausente.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011680"/>
            <a:ext cx="3474720" cy="224028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07992" y="2130552"/>
            <a:ext cx="31455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Declaração ausente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532888"/>
            <a:ext cx="3145536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O compilador não conhece a função/tipo. Ex.: esquecer de incluir o cabeçalho correto.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011680"/>
            <a:ext cx="3474720" cy="2240280"/>
          </a:xfrm>
          <a:prstGeom prst="roundRect">
            <a:avLst/>
          </a:prstGeom>
          <a:solidFill>
            <a:srgbClr val="F6F0FC"/>
          </a:solidFill>
          <a:ln w="15240">
            <a:solidFill>
              <a:srgbClr val="7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2752" y="2130552"/>
            <a:ext cx="31455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Undefined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532888"/>
            <a:ext cx="3145536" cy="1600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A declaração foi aceita, mas o linker não encontrou a implementação.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709160"/>
            <a:ext cx="8183879" cy="73152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8840" y="4818888"/>
            <a:ext cx="7909559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>
                <a:solidFill>
                  <a:srgbClr val="1F2937"/>
                </a:solidFill>
                <a:latin typeface="DejaVu Sans Mono"/>
              </a:rPr>
              <a:t>gcc main.c -o conversor.exe   // faltou conversoes.c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Noto Sans"/>
              </a:rPr>
              <a:t>Diagnóstico: leia a etapa em que o erro aconteceu antes de tentar “consertar a sintaxe”.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Data e hora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A biblioteca &lt;time.h&gt;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109728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0">
                <a:solidFill>
                  <a:srgbClr val="202020"/>
                </a:solidFill>
                <a:latin typeface="Noto Sans"/>
              </a:rPr>
              <a:t>time.h fornece tipos e funções padronizadas para representar, consultar, converter, formatar e comparar valores de tempo.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3063240" cy="114300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770632"/>
            <a:ext cx="27340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time_t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172968"/>
            <a:ext cx="273405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70" b="0">
                <a:solidFill>
                  <a:srgbClr val="202020"/>
                </a:solidFill>
                <a:latin typeface="Noto Sans"/>
              </a:rPr>
              <a:t>Representação numérica de tempo.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651760"/>
            <a:ext cx="3063240" cy="114300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392" y="2770632"/>
            <a:ext cx="27340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struct 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392" y="3172968"/>
            <a:ext cx="273405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70" b="0">
                <a:solidFill>
                  <a:srgbClr val="202020"/>
                </a:solidFill>
                <a:latin typeface="Noto Sans"/>
              </a:rPr>
              <a:t>Data/hora decomposta em campos.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2651760"/>
            <a:ext cx="3063240" cy="114300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45552" y="2770632"/>
            <a:ext cx="27340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time()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3172968"/>
            <a:ext cx="273405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70" b="0">
                <a:solidFill>
                  <a:srgbClr val="202020"/>
                </a:solidFill>
                <a:latin typeface="Noto Sans"/>
              </a:rPr>
              <a:t>Obtém o tempo atual.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0520"/>
            <a:ext cx="3063240" cy="1143000"/>
          </a:xfrm>
          <a:prstGeom prst="roundRect">
            <a:avLst/>
          </a:prstGeom>
          <a:solidFill>
            <a:srgbClr val="F6F0FC"/>
          </a:solidFill>
          <a:ln w="15240">
            <a:solidFill>
              <a:srgbClr val="7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4279392"/>
            <a:ext cx="27340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localtime()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681728"/>
            <a:ext cx="273405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70" b="0">
                <a:solidFill>
                  <a:srgbClr val="202020"/>
                </a:solidFill>
                <a:latin typeface="Noto Sans"/>
              </a:rPr>
              <a:t>Converte para horário local.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4160520"/>
            <a:ext cx="3063240" cy="114300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9392" y="4279392"/>
            <a:ext cx="27340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strftime()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9392" y="4681728"/>
            <a:ext cx="273405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70" b="0">
                <a:solidFill>
                  <a:srgbClr val="202020"/>
                </a:solidFill>
                <a:latin typeface="Noto Sans"/>
              </a:rPr>
              <a:t>Formata struct tm como texto.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4160520"/>
            <a:ext cx="3063240" cy="114300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45552" y="4279392"/>
            <a:ext cx="27340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difftime()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4681728"/>
            <a:ext cx="2734056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70" b="0">
                <a:solidFill>
                  <a:srgbClr val="202020"/>
                </a:solidFill>
                <a:latin typeface="Noto Sans"/>
              </a:rPr>
              <a:t>Calcula diferença entre tempos.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Data e hora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time_t e a representação do tempo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83664"/>
            <a:ext cx="10972800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20" b="0">
                <a:solidFill>
                  <a:srgbClr val="202020"/>
                </a:solidFill>
                <a:latin typeface="Noto Sans"/>
              </a:rPr>
              <a:t>time_t é um tipo definido pela implementação de C para representar instantes de tempo. Em sistemas Unix-like, normalmente está associado à contagem de segundos desde o Unix Epoch.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063240"/>
            <a:ext cx="102870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05840" y="2898648"/>
            <a:ext cx="54864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3410712"/>
            <a:ext cx="1325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80" b="1">
                <a:solidFill>
                  <a:srgbClr val="003366"/>
                </a:solidFill>
                <a:latin typeface="Noto Sans"/>
              </a:rPr>
              <a:t>01/01/1970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67328"/>
            <a:ext cx="13258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02020"/>
                </a:solidFill>
                <a:latin typeface="Noto Sans"/>
              </a:rPr>
              <a:t>Unix Epoch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0" y="2898648"/>
            <a:ext cx="54864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3410712"/>
            <a:ext cx="1325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80" b="1">
                <a:solidFill>
                  <a:srgbClr val="003366"/>
                </a:solidFill>
                <a:latin typeface="Noto Sans"/>
              </a:rPr>
              <a:t>tempo decorrido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767328"/>
            <a:ext cx="13258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02020"/>
                </a:solidFill>
                <a:latin typeface="Noto Sans"/>
              </a:rPr>
              <a:t>segundos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2898648"/>
            <a:ext cx="54864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0" y="3410712"/>
            <a:ext cx="13258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80" b="1">
                <a:solidFill>
                  <a:srgbClr val="003366"/>
                </a:solidFill>
                <a:latin typeface="Noto Sans"/>
              </a:rPr>
              <a:t>agora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767328"/>
            <a:ext cx="132588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>
                <a:solidFill>
                  <a:srgbClr val="202020"/>
                </a:solidFill>
                <a:latin typeface="Noto Sans"/>
              </a:rPr>
              <a:t>time(NULL)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6160" y="4572000"/>
            <a:ext cx="5120640" cy="105156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30752" y="4690872"/>
            <a:ext cx="4791455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Importante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0752" y="5093208"/>
            <a:ext cx="4791455" cy="41147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>
                <a:solidFill>
                  <a:srgbClr val="202020"/>
                </a:solidFill>
                <a:latin typeface="Noto Sans"/>
              </a:rPr>
              <a:t>O material cobra a diferença entre segundos e milissegundos: time_t não deve ser memorizado como “milissegundos desde 1970”.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Data e hora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struct tm — os campos que exigem atenção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057400"/>
            <a:ext cx="10835640" cy="5029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148840"/>
            <a:ext cx="21945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"/>
              </a:rPr>
              <a:t>Campo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148840"/>
            <a:ext cx="19659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"/>
              </a:rPr>
              <a:t>Faixa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148840"/>
            <a:ext cx="56692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Noto Sans"/>
              </a:rPr>
              <a:t>Interpretação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560320"/>
            <a:ext cx="10835640" cy="457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651760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>
                <a:solidFill>
                  <a:srgbClr val="003366"/>
                </a:solidFill>
                <a:latin typeface="Noto Sans"/>
              </a:rPr>
              <a:t>tm_sec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2651760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0–60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651760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segundos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17520"/>
            <a:ext cx="10835640" cy="4572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108960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>
                <a:solidFill>
                  <a:srgbClr val="003366"/>
                </a:solidFill>
                <a:latin typeface="Noto Sans"/>
              </a:rPr>
              <a:t>tm_min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108960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0–59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108960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minutos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474720"/>
            <a:ext cx="10835640" cy="457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3566160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>
                <a:solidFill>
                  <a:srgbClr val="003366"/>
                </a:solidFill>
                <a:latin typeface="Noto Sans"/>
              </a:rPr>
              <a:t>tm_hour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566160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0–23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566160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horas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931920"/>
            <a:ext cx="10835640" cy="4572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023359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>
                <a:solidFill>
                  <a:srgbClr val="003366"/>
                </a:solidFill>
                <a:latin typeface="Noto Sans"/>
              </a:rPr>
              <a:t>tm_mday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023359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1–31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023359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dia do mês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389120"/>
            <a:ext cx="10835640" cy="457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4480559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>
                <a:solidFill>
                  <a:srgbClr val="003366"/>
                </a:solidFill>
                <a:latin typeface="Noto Sans"/>
              </a:rPr>
              <a:t>tm_mon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4480559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0–11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480559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janeiro = 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846320"/>
            <a:ext cx="10835640" cy="45720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" y="4937759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>
                <a:solidFill>
                  <a:srgbClr val="003366"/>
                </a:solidFill>
                <a:latin typeface="Noto Sans"/>
              </a:rPr>
              <a:t>tm_year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937759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desde 1900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4937759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ano real = tm_year + 1900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303520"/>
            <a:ext cx="10835640" cy="4572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5394959"/>
            <a:ext cx="21945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1">
                <a:solidFill>
                  <a:srgbClr val="003366"/>
                </a:solidFill>
                <a:latin typeface="Noto Sans"/>
              </a:rPr>
              <a:t>tm_wday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4680" y="5394959"/>
            <a:ext cx="196596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0–6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5394959"/>
            <a:ext cx="56692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domingo = 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897880"/>
            <a:ext cx="10378440" cy="420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b="1">
                <a:solidFill>
                  <a:srgbClr val="FF6600"/>
                </a:solidFill>
                <a:latin typeface="Noto Sans"/>
              </a:rPr>
              <a:t>Dois erros clássicos: imprimir tm_mon diretamente como mês humano e imprimir tm_year sem somar 1900.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Data e hora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Live coding 3 — Data e hora do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01952"/>
            <a:ext cx="1481328" cy="347472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138988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</a:rPr>
              <a:t>LIVE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95728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Noto Sans"/>
              </a:rPr>
              <a:t>Objetivo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43200"/>
            <a:ext cx="557784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202020"/>
                </a:solidFill>
                <a:latin typeface="Noto Sans"/>
              </a:rPr>
              <a:t>Consultar o relógio do sistema e mostrar data e hora local no formato: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66160"/>
            <a:ext cx="3977639" cy="65836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675887"/>
            <a:ext cx="37033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900">
                <a:solidFill>
                  <a:srgbClr val="1F2937"/>
                </a:solidFill>
                <a:latin typeface="DejaVu Sans Mono"/>
              </a:rPr>
              <a:t>18/08/2026 16:30:45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395728"/>
            <a:ext cx="22860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Noto Sans"/>
              </a:rPr>
              <a:t>Passos conceituais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61488"/>
            <a:ext cx="4800600" cy="2148840"/>
          </a:xfrm>
          <a:prstGeom prst="rect">
            <a:avLst/>
          </a:prstGeom>
          <a:noFill/>
        </p:spPr>
        <p:txBody>
          <a:bodyPr wrap="square" lIns="45720" tIns="18288" rIns="18288" bIns="18288">
            <a:spAutoFit/>
          </a:bodyPr>
          <a:lstStyle/>
          <a:p>
            <a:pPr>
              <a:spcAft>
                <a:spcPts val="200"/>
              </a:spcAft>
              <a:defRPr sz="1580">
                <a:solidFill>
                  <a:srgbClr val="202020"/>
                </a:solidFill>
                <a:latin typeface="Noto Sans"/>
              </a:defRPr>
            </a:pPr>
            <a:r>
              <a:t>• Obter time_t com time(NULL).</a:t>
            </a:r>
          </a:p>
          <a:p>
            <a:pPr>
              <a:spcAft>
                <a:spcPts val="200"/>
              </a:spcAft>
              <a:defRPr sz="1580">
                <a:solidFill>
                  <a:srgbClr val="202020"/>
                </a:solidFill>
                <a:latin typeface="Noto Sans"/>
              </a:defRPr>
            </a:pPr>
            <a:r>
              <a:t>• Converter com localtime().</a:t>
            </a:r>
          </a:p>
          <a:p>
            <a:pPr>
              <a:spcAft>
                <a:spcPts val="200"/>
              </a:spcAft>
              <a:defRPr sz="1580">
                <a:solidFill>
                  <a:srgbClr val="202020"/>
                </a:solidFill>
                <a:latin typeface="Noto Sans"/>
              </a:defRPr>
            </a:pPr>
            <a:r>
              <a:t>• Acessar campos de struct tm.</a:t>
            </a:r>
          </a:p>
          <a:p>
            <a:pPr>
              <a:spcAft>
                <a:spcPts val="200"/>
              </a:spcAft>
              <a:defRPr sz="1580">
                <a:solidFill>
                  <a:srgbClr val="202020"/>
                </a:solidFill>
                <a:latin typeface="Noto Sans"/>
              </a:defRPr>
            </a:pPr>
            <a:r>
              <a:t>• Corrigir mês e ano.</a:t>
            </a:r>
          </a:p>
          <a:p>
            <a:pPr>
              <a:spcAft>
                <a:spcPts val="200"/>
              </a:spcAft>
              <a:defRPr sz="1580">
                <a:solidFill>
                  <a:srgbClr val="202020"/>
                </a:solidFill>
                <a:latin typeface="Noto Sans"/>
              </a:defRPr>
            </a:pPr>
            <a:r>
              <a:t>• Imprimir com printf().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681728"/>
            <a:ext cx="4892040" cy="109728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800600"/>
            <a:ext cx="4562855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Atenção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202936"/>
            <a:ext cx="4562855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40" b="0">
                <a:solidFill>
                  <a:srgbClr val="202020"/>
                </a:solidFill>
                <a:latin typeface="Noto Sans"/>
              </a:rPr>
              <a:t>localtime() retorna um ponteiro para struct tm. O acesso aos campos usa o operador -&gt;.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Data e hora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Exercício de leitura — o mês em struct tm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01952"/>
            <a:ext cx="1325880" cy="34747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</a:rPr>
              <a:t>EXERCÍCIO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23160"/>
            <a:ext cx="58521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Considere que a data do sistema é 04/12/2020. Qual valor é impresso?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71800"/>
            <a:ext cx="5715000" cy="164592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081528"/>
            <a:ext cx="5440680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50">
                <a:solidFill>
                  <a:srgbClr val="1F2937"/>
                </a:solidFill>
                <a:latin typeface="DejaVu Sans Mono"/>
              </a:rPr>
              <a:t>time_t t = time(NULL);
struct tm *local = localtime(&amp;t);
printf("%d", local-&gt;tm_mon);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423160"/>
            <a:ext cx="4526280" cy="228600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93992" y="2542032"/>
            <a:ext cx="41970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Pista técnica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2944368"/>
            <a:ext cx="4197096" cy="1645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0">
                <a:solidFill>
                  <a:srgbClr val="202020"/>
                </a:solidFill>
                <a:latin typeface="Noto Sans"/>
              </a:rPr>
              <a:t>tm_mon usa a faixa 0–11. Janeiro = 0, fevereiro = 1, ... dezembro = 11.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983480"/>
            <a:ext cx="452628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202020"/>
                </a:solidFill>
                <a:latin typeface="Noto Sans"/>
              </a:rPr>
              <a:t>A) 12     B) 11     C) 4     D) 20     E) 04/12/2020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Data e hora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strftime() — formatando sem montar campo por campo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74519"/>
            <a:ext cx="10972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39" b="0">
                <a:solidFill>
                  <a:srgbClr val="202020"/>
                </a:solidFill>
                <a:latin typeface="Noto Sans"/>
              </a:rPr>
              <a:t>strftime() recebe uma struct tm e gera uma string conforme uma máscara de formatação.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51760"/>
            <a:ext cx="10058400" cy="74980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761488"/>
            <a:ext cx="9784080" cy="53035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50">
                <a:solidFill>
                  <a:srgbClr val="1F2937"/>
                </a:solidFill>
                <a:latin typeface="DejaVu Sans Mono"/>
              </a:rPr>
              <a:t>strftime(buffer, sizeof(buffer), "%d/%m/%Y %H:%M:%S", local);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77639"/>
            <a:ext cx="1417320" cy="91440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096512"/>
            <a:ext cx="1143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03366"/>
                </a:solidFill>
                <a:latin typeface="Noto Sans"/>
              </a:rPr>
              <a:t>%d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53128"/>
            <a:ext cx="12344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0">
                <a:solidFill>
                  <a:srgbClr val="202020"/>
                </a:solidFill>
                <a:latin typeface="Noto Sans"/>
              </a:rPr>
              <a:t>dia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3977639"/>
            <a:ext cx="1417320" cy="91440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0" y="4096512"/>
            <a:ext cx="1143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03366"/>
                </a:solidFill>
                <a:latin typeface="Noto Sans"/>
              </a:rPr>
              <a:t>%m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453128"/>
            <a:ext cx="12344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0">
                <a:solidFill>
                  <a:srgbClr val="202020"/>
                </a:solidFill>
                <a:latin typeface="Noto Sans"/>
              </a:rPr>
              <a:t>mês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977639"/>
            <a:ext cx="1417320" cy="91440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4096512"/>
            <a:ext cx="1143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03366"/>
                </a:solidFill>
                <a:latin typeface="Noto Sans"/>
              </a:rPr>
              <a:t>%Y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53128"/>
            <a:ext cx="12344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0">
                <a:solidFill>
                  <a:srgbClr val="202020"/>
                </a:solidFill>
                <a:latin typeface="Noto Sans"/>
              </a:rPr>
              <a:t>ano com 4 dígitos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977639"/>
            <a:ext cx="1417320" cy="914400"/>
          </a:xfrm>
          <a:prstGeom prst="roundRect">
            <a:avLst/>
          </a:prstGeom>
          <a:solidFill>
            <a:srgbClr val="F6F0FC"/>
          </a:solidFill>
          <a:ln w="15240">
            <a:solidFill>
              <a:srgbClr val="7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096512"/>
            <a:ext cx="1143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03366"/>
                </a:solidFill>
                <a:latin typeface="Noto Sans"/>
              </a:rPr>
              <a:t>%H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53128"/>
            <a:ext cx="12344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0">
                <a:solidFill>
                  <a:srgbClr val="202020"/>
                </a:solidFill>
                <a:latin typeface="Noto Sans"/>
              </a:rPr>
              <a:t>hora 00–23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977639"/>
            <a:ext cx="1417320" cy="91440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4096512"/>
            <a:ext cx="1143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03366"/>
                </a:solidFill>
                <a:latin typeface="Noto Sans"/>
              </a:rPr>
              <a:t>%M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453128"/>
            <a:ext cx="12344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0">
                <a:solidFill>
                  <a:srgbClr val="202020"/>
                </a:solidFill>
                <a:latin typeface="Noto Sans"/>
              </a:rPr>
              <a:t>minuto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04120" y="3977639"/>
            <a:ext cx="1417320" cy="91440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41280" y="4096512"/>
            <a:ext cx="114300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700" b="1">
                <a:solidFill>
                  <a:srgbClr val="003366"/>
                </a:solidFill>
                <a:latin typeface="Noto Sans"/>
              </a:rPr>
              <a:t>%S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4453128"/>
            <a:ext cx="123444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0">
                <a:solidFill>
                  <a:srgbClr val="202020"/>
                </a:solidFill>
                <a:latin typeface="Noto Sans"/>
              </a:rPr>
              <a:t>segundo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440680"/>
            <a:ext cx="107442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Noto Sans"/>
              </a:rPr>
              <a:t>Vantagem: o código fica menor e reduz o risco de esquecer os ajustes específicos de tm_mon e tm_year.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Data e hora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Live coding 4 — Carimbo de data/hora para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01952"/>
            <a:ext cx="1481328" cy="347472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138988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</a:rPr>
              <a:t>LIVE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95728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Noto Sans"/>
              </a:rPr>
              <a:t>Problema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43200"/>
            <a:ext cx="5760720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202020"/>
                </a:solidFill>
                <a:latin typeface="Noto Sans"/>
              </a:rPr>
              <a:t>Um programa de monitoramento precisa registrar mensagens com um carimbo de data/hora legível.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75887"/>
            <a:ext cx="5806440" cy="65836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785615"/>
            <a:ext cx="55321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700">
                <a:solidFill>
                  <a:srgbClr val="1F2937"/>
                </a:solidFill>
                <a:latin typeface="DejaVu Sans Mono"/>
              </a:rPr>
              <a:t>[18/08/2026 16:30:45] Sensor iniciado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2286000"/>
            <a:ext cx="4343400" cy="141732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76872" y="2404872"/>
            <a:ext cx="4014215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Requisitos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2807208"/>
            <a:ext cx="4014215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Use time(), localtime() e strftime(). Armazene o texto formatado em um vetor de char.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12280" y="4069080"/>
            <a:ext cx="4343400" cy="128016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76872" y="4187952"/>
            <a:ext cx="4014215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Extensão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4590288"/>
            <a:ext cx="4014215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>
                <a:solidFill>
                  <a:srgbClr val="202020"/>
                </a:solidFill>
                <a:latin typeface="Noto Sans"/>
              </a:rPr>
              <a:t>Troque a máscara para produzir “18-08-2026_16-30-45”, formato útil em nomes de arquivos.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Gráficos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C padrão não possui uma API gráfica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856231"/>
            <a:ext cx="109728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20" b="0">
                <a:solidFill>
                  <a:srgbClr val="202020"/>
                </a:solidFill>
                <a:latin typeface="Noto Sans"/>
              </a:rPr>
              <a:t>O padrão da linguagem C oferece bibliotecas para várias tarefas, mas não define funções para abrir janelas e desenhar pixels, linhas ou formas.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88920"/>
            <a:ext cx="2514600" cy="196596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907791"/>
            <a:ext cx="21854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graphics.h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310127"/>
            <a:ext cx="2185416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10" b="0">
                <a:solidFill>
                  <a:srgbClr val="202020"/>
                </a:solidFill>
                <a:latin typeface="Noto Sans"/>
              </a:rPr>
              <a:t>Biblioteca antiga e simples, útil didaticamente.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2788920"/>
            <a:ext cx="2514600" cy="196596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907791"/>
            <a:ext cx="21854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SDL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310127"/>
            <a:ext cx="2185416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10" b="0">
                <a:solidFill>
                  <a:srgbClr val="202020"/>
                </a:solidFill>
                <a:latin typeface="Noto Sans"/>
              </a:rPr>
              <a:t>Multimídia e acesso a vídeo, áudio e entrada.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788920"/>
            <a:ext cx="2514600" cy="196596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7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1" y="2907791"/>
            <a:ext cx="21854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OpenGL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3310127"/>
            <a:ext cx="2185416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10" b="0">
                <a:solidFill>
                  <a:srgbClr val="202020"/>
                </a:solidFill>
                <a:latin typeface="Noto Sans"/>
              </a:rPr>
              <a:t>API gráfica portável e de baixo nível.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788920"/>
            <a:ext cx="2514600" cy="1965960"/>
          </a:xfrm>
          <a:prstGeom prst="roundRect">
            <a:avLst/>
          </a:prstGeom>
          <a:solidFill>
            <a:srgbClr val="F6F0FC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08592" y="2907791"/>
            <a:ext cx="21854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Cairo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3310127"/>
            <a:ext cx="2185416" cy="1325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10" b="0">
                <a:solidFill>
                  <a:srgbClr val="202020"/>
                </a:solidFill>
                <a:latin typeface="Noto Sans"/>
              </a:rPr>
              <a:t>Gráficos 2D vetoriais e renderização.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1074420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003366"/>
                </a:solidFill>
                <a:latin typeface="Noto Sans"/>
              </a:rPr>
              <a:t>A disciplina começa com graphics.h como ponte didática e, na aula seguinte, avança para OpenGL/GLUT.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Gráficos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Sistema de coordenadas da tela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2011680"/>
            <a:ext cx="5669280" cy="3566160"/>
          </a:xfrm>
          <a:prstGeom prst="roundRect">
            <a:avLst/>
          </a:prstGeom>
          <a:solidFill>
            <a:srgbClr val="F9FBFC"/>
          </a:solidFill>
          <a:ln w="15240">
            <a:solidFill>
              <a:srgbClr val="B7C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1188720" y="2514600"/>
            <a:ext cx="4617720" cy="0"/>
          </a:xfrm>
          <a:prstGeom prst="line">
            <a:avLst/>
          </a:prstGeom>
          <a:ln w="2794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2514600"/>
            <a:ext cx="0" cy="2560320"/>
          </a:xfrm>
          <a:prstGeom prst="line">
            <a:avLst/>
          </a:prstGeom>
          <a:ln w="2794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4672" y="2148840"/>
            <a:ext cx="7315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Noto Sans"/>
              </a:rPr>
              <a:t>(0,0)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148840"/>
            <a:ext cx="128016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Noto Sans"/>
              </a:rPr>
              <a:t>x aumenta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919472"/>
            <a:ext cx="141732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Noto Sans"/>
              </a:rPr>
              <a:t>y aumenta ↓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28800" y="3017520"/>
            <a:ext cx="3383280" cy="1691640"/>
          </a:xfrm>
          <a:prstGeom prst="line">
            <a:avLst/>
          </a:prstGeom>
          <a:ln w="27940">
            <a:solidFill>
              <a:srgbClr val="DC35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828800" y="3017520"/>
            <a:ext cx="3383280" cy="1691640"/>
          </a:xfrm>
          <a:prstGeom prst="line">
            <a:avLst/>
          </a:prstGeom>
          <a:ln w="27940">
            <a:solidFill>
              <a:srgbClr val="31C0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0" y="2148840"/>
            <a:ext cx="4343400" cy="150876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22592" y="2267712"/>
            <a:ext cx="4014215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Origem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2670048"/>
            <a:ext cx="4014215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Em bibliotecas gráficas simples, a origem costuma ficar no canto superior esquerdo. X cresce para a direita e Y para baixo.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069080"/>
            <a:ext cx="4343400" cy="123444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22592" y="4187952"/>
            <a:ext cx="4014215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Consequência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4590288"/>
            <a:ext cx="4014215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b="0">
                <a:solidFill>
                  <a:srgbClr val="202020"/>
                </a:solidFill>
                <a:latin typeface="Noto Sans"/>
              </a:rPr>
              <a:t>line(0,0,200,200) desce. Para “subir” visualmente, o segundo ponto precisa ter Y menor.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Gráficos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Live coding 5 — Primeiras formas com graphics.h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01952"/>
            <a:ext cx="1481328" cy="347472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138988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</a:rPr>
              <a:t>LIVE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95728"/>
            <a:ext cx="14630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Noto Sans"/>
              </a:rPr>
              <a:t>Objetivo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43200"/>
            <a:ext cx="5532120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0">
                <a:solidFill>
                  <a:srgbClr val="202020"/>
                </a:solidFill>
                <a:latin typeface="Noto Sans"/>
              </a:rPr>
              <a:t>Abrir uma janela 800 × 600 e desenhar elementos simples para compreender coordenadas e chamadas da biblioteca.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148840"/>
            <a:ext cx="2240280" cy="132588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9672" y="2267712"/>
            <a:ext cx="19110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Janela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670048"/>
            <a:ext cx="1911096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70" b="0">
                <a:solidFill>
                  <a:srgbClr val="202020"/>
                </a:solidFill>
                <a:latin typeface="Noto Sans"/>
              </a:rPr>
              <a:t>initwindow(800, 600)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148840"/>
            <a:ext cx="2240280" cy="132588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79992" y="2267712"/>
            <a:ext cx="19110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Retângulo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2670048"/>
            <a:ext cx="1911096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70" b="0">
                <a:solidFill>
                  <a:srgbClr val="202020"/>
                </a:solidFill>
                <a:latin typeface="Noto Sans"/>
              </a:rPr>
              <a:t>rectangle(...)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794760"/>
            <a:ext cx="2240280" cy="132588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9672" y="3913632"/>
            <a:ext cx="19110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Círculo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4315968"/>
            <a:ext cx="1911096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70" b="0">
                <a:solidFill>
                  <a:srgbClr val="202020"/>
                </a:solidFill>
                <a:latin typeface="Noto Sans"/>
              </a:rPr>
              <a:t>circle(x, y, raio)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3794760"/>
            <a:ext cx="2240280" cy="1325880"/>
          </a:xfrm>
          <a:prstGeom prst="roundRect">
            <a:avLst/>
          </a:prstGeom>
          <a:solidFill>
            <a:srgbClr val="F6F0FC"/>
          </a:solidFill>
          <a:ln w="15240">
            <a:solidFill>
              <a:srgbClr val="7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79992" y="3913632"/>
            <a:ext cx="19110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Linha e texto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992" y="4315968"/>
            <a:ext cx="1911096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40" b="0">
                <a:solidFill>
                  <a:srgbClr val="202020"/>
                </a:solidFill>
                <a:latin typeface="Noto Sans"/>
              </a:rPr>
              <a:t>line(...) / outtextxy(...)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623560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b="1">
                <a:solidFill>
                  <a:srgbClr val="003366"/>
                </a:solidFill>
                <a:latin typeface="Noto Sans"/>
              </a:rPr>
              <a:t>Ambiente: Dev-C++ 5.11 + WinBGIm/graphics.h configurada no projeto.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Gráficos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Exercício prático — linha diagonal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01952"/>
            <a:ext cx="1325880" cy="347472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929384"/>
            <a:ext cx="1234440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Noto Sans"/>
              </a:rPr>
              <a:t>EXERCÍCIO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487168"/>
            <a:ext cx="5669280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700" b="1">
                <a:solidFill>
                  <a:srgbClr val="003366"/>
                </a:solidFill>
                <a:latin typeface="Noto Sans"/>
              </a:rPr>
              <a:t>Desenhe uma linha que SUBA da esquerda para a direita em uma área de 200 × 200.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29000"/>
            <a:ext cx="4297680" cy="713232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6D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538728"/>
            <a:ext cx="4023360" cy="493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>
                <a:solidFill>
                  <a:srgbClr val="1F2937"/>
                </a:solidFill>
                <a:latin typeface="DejaVu Sans Mono"/>
              </a:rPr>
              <a:t>line( ?, ?, ?, ? 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240280"/>
            <a:ext cx="4754880" cy="155448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6792" y="2359152"/>
            <a:ext cx="44256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Teste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761488"/>
            <a:ext cx="4425696" cy="9144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line(0, 0, 200, 200) produz a diagonal visual esperada?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160520"/>
            <a:ext cx="4754880" cy="132588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4279392"/>
            <a:ext cx="44256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Explique o resultado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681728"/>
            <a:ext cx="4425696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Relacione as coordenadas escolhidas ao fato de que Y cresce para baixo.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892040"/>
            <a:ext cx="475488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00" b="1">
                <a:solidFill>
                  <a:srgbClr val="31C062"/>
                </a:solidFill>
                <a:latin typeface="Noto Sans"/>
              </a:rPr>
              <a:t>Após testar, ajuste a chamada para produzir a diagonal ascendente.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Gráficos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graphics.h: pontos de atenção no ambiente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057400"/>
            <a:ext cx="5349240" cy="137160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221992"/>
            <a:ext cx="4114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003366"/>
                </a:solidFill>
                <a:latin typeface="Noto San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03704"/>
            <a:ext cx="4389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Biblioteca não padrão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24328"/>
            <a:ext cx="4389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graphics.h/WinBGIm precisa ser instalada e configurada.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57400"/>
            <a:ext cx="5349240" cy="137160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82512" y="2221992"/>
            <a:ext cx="4114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003366"/>
                </a:solidFill>
                <a:latin typeface="Noto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03704"/>
            <a:ext cx="4389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Projeto específico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624328"/>
            <a:ext cx="4389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No material da disciplina, usar “Console Graphics” e projeto C++.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886200"/>
            <a:ext cx="5349240" cy="1371600"/>
          </a:xfrm>
          <a:prstGeom prst="roundRect">
            <a:avLst/>
          </a:prstGeom>
          <a:solidFill>
            <a:srgbClr val="EFFAF2"/>
          </a:solidFill>
          <a:ln w="15240">
            <a:solidFill>
              <a:srgbClr val="31C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4050791"/>
            <a:ext cx="4114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003366"/>
                </a:solidFill>
                <a:latin typeface="Noto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32504"/>
            <a:ext cx="4389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Compilador 32 bits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453128"/>
            <a:ext cx="4389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Selecionar TDM-GCC 4.9.2 32-bit Release.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886200"/>
            <a:ext cx="5349240" cy="1371600"/>
          </a:xfrm>
          <a:prstGeom prst="roundRect">
            <a:avLst/>
          </a:prstGeom>
          <a:solidFill>
            <a:srgbClr val="F6F0FC"/>
          </a:solidFill>
          <a:ln w="15240">
            <a:solidFill>
              <a:srgbClr val="7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4050791"/>
            <a:ext cx="41148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003366"/>
                </a:solidFill>
                <a:latin typeface="Noto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032504"/>
            <a:ext cx="43891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Arquivos corretos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453128"/>
            <a:ext cx="43891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20" b="0">
                <a:solidFill>
                  <a:srgbClr val="202020"/>
                </a:solidFill>
                <a:latin typeface="Noto Sans"/>
              </a:rPr>
              <a:t>graphics.h/winbgim.h no include e libbgi.a em lib/lib32.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10698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80" b="1">
                <a:solidFill>
                  <a:srgbClr val="FF6600"/>
                </a:solidFill>
                <a:latin typeface="Noto Sans"/>
              </a:rPr>
              <a:t>Se a configuração consumir muito tempo em sala, faça o live coding em uma máquina previamente preparada e deixe a instalação como roteiro guiado.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Gráficos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De graphics.h para OpenGL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3429000" cy="2880360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" y="2130552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graphics.h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532888"/>
            <a:ext cx="3099816" cy="2240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• Simples para formas 2D
• Não é padrão ANSI/ISO C
• Forte dependência do ambiente
• Útil para introdução didática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011680"/>
            <a:ext cx="3429000" cy="2880360"/>
          </a:xfrm>
          <a:prstGeom prst="roundRect">
            <a:avLst/>
          </a:prstGeom>
          <a:solidFill>
            <a:srgbClr val="F6F0FC"/>
          </a:solidFill>
          <a:ln w="15240">
            <a:solidFill>
              <a:srgbClr val="7A3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53712" y="2130552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OpenGL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532888"/>
            <a:ext cx="3099816" cy="2240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• API gráfica portável
• Estado gráfico e pipeline
• Integração com bibliotecas de janela
• Base para a próxima aula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011680"/>
            <a:ext cx="3429000" cy="2880360"/>
          </a:xfrm>
          <a:prstGeom prst="roundRect">
            <a:avLst/>
          </a:prstGeom>
          <a:solidFill>
            <a:srgbClr val="E9F6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8471" y="2130552"/>
            <a:ext cx="309981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50" b="1">
                <a:solidFill>
                  <a:srgbClr val="003366"/>
                </a:solidFill>
                <a:latin typeface="Noto Sans"/>
              </a:rPr>
              <a:t>GLUT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2532888"/>
            <a:ext cx="3099816" cy="22402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0">
                <a:solidFill>
                  <a:srgbClr val="202020"/>
                </a:solidFill>
                <a:latin typeface="Noto Sans"/>
              </a:rPr>
              <a:t>• Cria janela e contexto
• Gerencia callbacks
• Teclado e mouse
• Complementa OpenGL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94960"/>
            <a:ext cx="10789920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650" b="1">
                <a:solidFill>
                  <a:srgbClr val="003366"/>
                </a:solidFill>
                <a:latin typeface="Noto Sans"/>
              </a:rPr>
              <a:t>Próximo passo: criar uma janela OpenGL, desenhar primitivas e entender o modelo de máquina de estados.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Atividade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Questões de fixação — 1 a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65960"/>
            <a:ext cx="361188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075688"/>
            <a:ext cx="32826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003366"/>
                </a:solidFill>
                <a:latin typeface="Noto Sans"/>
              </a:rPr>
              <a:t>Questão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441448"/>
            <a:ext cx="3282696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10" b="0">
                <a:solidFill>
                  <a:srgbClr val="202020"/>
                </a:solidFill>
                <a:latin typeface="Noto Sans"/>
              </a:rPr>
              <a:t>Qual é o papel principal de um arquivo de cabeçalho (.h) em um módulo C?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00400"/>
            <a:ext cx="3282696" cy="2075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>
                <a:solidFill>
                  <a:srgbClr val="374151"/>
                </a:solidFill>
                <a:latin typeface="Noto Sans"/>
              </a:rPr>
              <a:t>A) Guardar o executável  B) Declarar a interface  C) Substituir o linker  D) Executar o programa  E) Armazenar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965960"/>
            <a:ext cx="361188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62272" y="2075688"/>
            <a:ext cx="32826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003366"/>
                </a:solidFill>
                <a:latin typeface="Noto Sans"/>
              </a:rPr>
              <a:t>Questão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441448"/>
            <a:ext cx="3282696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10" b="0">
                <a:solidFill>
                  <a:srgbClr val="202020"/>
                </a:solidFill>
                <a:latin typeface="Noto Sans"/>
              </a:rPr>
              <a:t>Em qual etapa objetos e bibliotecas são combinados para formar o executável?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3200400"/>
            <a:ext cx="3282696" cy="2075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>
                <a:solidFill>
                  <a:srgbClr val="374151"/>
                </a:solidFill>
                <a:latin typeface="Noto Sans"/>
              </a:rPr>
              <a:t>A) Pré-processamento  B) Digitação  C) Linkedição  D) Entrada de dados  E) Interpretação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965960"/>
            <a:ext cx="361188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2075688"/>
            <a:ext cx="32826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003366"/>
                </a:solidFill>
                <a:latin typeface="Noto Sans"/>
              </a:rPr>
              <a:t>Questão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441448"/>
            <a:ext cx="3282696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10" b="0">
                <a:solidFill>
                  <a:srgbClr val="202020"/>
                </a:solidFill>
                <a:latin typeface="Noto Sans"/>
              </a:rPr>
              <a:t>Sobre time.h, qual afirmação está correta?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3200400"/>
            <a:ext cx="3282696" cy="2075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>
                <a:solidFill>
                  <a:srgbClr val="374151"/>
                </a:solidFill>
                <a:latin typeface="Noto Sans"/>
              </a:rPr>
              <a:t>A) time_t é sempre milissegundos  B) localtime() converte time_t para struct tm local  C) tm_mon vai de 1 a 12  D) tm_year já guarda 2026  E) time.h é gráfica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58952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73736"/>
            <a:ext cx="11384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Noto Sans"/>
              </a:rPr>
              <a:t>Atividade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34440"/>
            <a:ext cx="950976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1325880"/>
            <a:ext cx="112928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350" b="1">
                <a:solidFill>
                  <a:srgbClr val="202020"/>
                </a:solidFill>
                <a:latin typeface="Noto Sans"/>
              </a:rPr>
              <a:t>Questões de fixação — 4 a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1132"/>
            <a:ext cx="1533143" cy="640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23999" y="6771132"/>
            <a:ext cx="1533143" cy="64008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999" y="6771132"/>
            <a:ext cx="1533143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1999" y="6771132"/>
            <a:ext cx="1533143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5999" y="6771132"/>
            <a:ext cx="1533143" cy="6400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19999" y="6771132"/>
            <a:ext cx="1533143" cy="6400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3999" y="6771132"/>
            <a:ext cx="1533143" cy="6400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667999" y="6771132"/>
            <a:ext cx="1533143" cy="64008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1965960"/>
            <a:ext cx="361188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075688"/>
            <a:ext cx="32826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003366"/>
                </a:solidFill>
                <a:latin typeface="Noto Sans"/>
              </a:rPr>
              <a:t>Questão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2441448"/>
            <a:ext cx="3282696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10" b="0">
                <a:solidFill>
                  <a:srgbClr val="202020"/>
                </a:solidFill>
                <a:latin typeface="Noto Sans"/>
              </a:rPr>
              <a:t>Se tm_mon vale 11, qual mês está representado?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200400"/>
            <a:ext cx="3282696" cy="2075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>
                <a:solidFill>
                  <a:srgbClr val="374151"/>
                </a:solidFill>
                <a:latin typeface="Noto Sans"/>
              </a:rPr>
              <a:t>A) Novembro  B) Dezembro  C) Janeiro  D) Outubro  E) Depende do compilador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965960"/>
            <a:ext cx="361188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62272" y="2075688"/>
            <a:ext cx="32826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003366"/>
                </a:solidFill>
                <a:latin typeface="Noto Sans"/>
              </a:rPr>
              <a:t>Questão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441448"/>
            <a:ext cx="3282696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10" b="0">
                <a:solidFill>
                  <a:srgbClr val="202020"/>
                </a:solidFill>
                <a:latin typeface="Noto Sans"/>
              </a:rPr>
              <a:t>Por que line(0,0,200,200) tende a descer visualmente?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3200400"/>
            <a:ext cx="3282696" cy="2075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>
                <a:solidFill>
                  <a:srgbClr val="374151"/>
                </a:solidFill>
                <a:latin typeface="Noto Sans"/>
              </a:rPr>
              <a:t>A) X cresce para esquerda  B) Y cresce para baixo  C) A origem é inferior esquerda  D) É um bug  E) OpenGL inverte a tela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965960"/>
            <a:ext cx="361188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2075688"/>
            <a:ext cx="328269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50" b="1">
                <a:solidFill>
                  <a:srgbClr val="003366"/>
                </a:solidFill>
                <a:latin typeface="Noto Sans"/>
              </a:rPr>
              <a:t>Questão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2441448"/>
            <a:ext cx="3282696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10" b="0">
                <a:solidFill>
                  <a:srgbClr val="202020"/>
                </a:solidFill>
                <a:latin typeface="Noto Sans"/>
              </a:rPr>
              <a:t>Qual alternativa melhor distingue biblioteca e API?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3200400"/>
            <a:ext cx="3282696" cy="20756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80" b="0">
                <a:solidFill>
                  <a:srgbClr val="374151"/>
                </a:solidFill>
                <a:latin typeface="Noto Sans"/>
              </a:rPr>
              <a:t>A) São sempre sinônimos  B) API define uma interface/contrato; biblioteca fornece código reutilizável  C) API só existe na web  D) Biblioteca não possui funções  E) C não usa APIs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iamond 2"/>
          <p:cNvSpPr/>
          <p:nvPr/>
        </p:nvSpPr>
        <p:spPr>
          <a:xfrm>
            <a:off x="640080" y="274320"/>
            <a:ext cx="502920" cy="502920"/>
          </a:xfrm>
          <a:prstGeom prst="diamond">
            <a:avLst/>
          </a:prstGeom>
          <a:solidFill>
            <a:srgbClr val="7A3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iamond 3"/>
          <p:cNvSpPr/>
          <p:nvPr/>
        </p:nvSpPr>
        <p:spPr>
          <a:xfrm>
            <a:off x="10241280" y="45720"/>
            <a:ext cx="594360" cy="594360"/>
          </a:xfrm>
          <a:prstGeom prst="diamond">
            <a:avLst/>
          </a:prstGeom>
          <a:solidFill>
            <a:srgbClr val="F0B3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9418320" y="4572000"/>
            <a:ext cx="384048" cy="384048"/>
          </a:xfrm>
          <a:prstGeom prst="diamond">
            <a:avLst/>
          </a:prstGeom>
          <a:solidFill>
            <a:srgbClr val="5A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45720" y="6080760"/>
            <a:ext cx="384048" cy="384048"/>
          </a:xfrm>
          <a:prstGeom prst="diamond">
            <a:avLst/>
          </a:prstGeom>
          <a:solidFill>
            <a:srgbClr val="31C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0" y="4434840"/>
            <a:ext cx="557784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2700" b="1">
                <a:solidFill>
                  <a:srgbClr val="FFFFFF"/>
                </a:solidFill>
                <a:latin typeface="Noto Sans"/>
              </a:rPr>
              <a:t>Bons estudos. Até a próxima aula!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5074920"/>
            <a:ext cx="553212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550" b="0">
                <a:solidFill>
                  <a:srgbClr val="FFFFFF"/>
                </a:solidFill>
                <a:latin typeface="Noto Sans"/>
              </a:rPr>
              <a:t>Próxima aula: Gráficos com OpenGL e GLUT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5532120"/>
            <a:ext cx="3474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250" b="0">
                <a:solidFill>
                  <a:srgbClr val="FFFFFF"/>
                </a:solidFill>
                <a:latin typeface="Noto Sans"/>
              </a:rPr>
              <a:t>Prof. Ms. Dionizio Porfírio de Assis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2269</Words>
  <Application>Microsoft Office PowerPoint</Application>
  <PresentationFormat>Widescreen</PresentationFormat>
  <Paragraphs>312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Calibri</vt:lpstr>
      <vt:lpstr>DejaVu Sans Mono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DIONIZIO PORFIRIO DE ASSIS</cp:lastModifiedBy>
  <cp:revision>3</cp:revision>
  <dcterms:created xsi:type="dcterms:W3CDTF">2013-01-27T09:14:16Z</dcterms:created>
  <dcterms:modified xsi:type="dcterms:W3CDTF">2026-08-19T11:20:21Z</dcterms:modified>
  <cp:category/>
</cp:coreProperties>
</file>