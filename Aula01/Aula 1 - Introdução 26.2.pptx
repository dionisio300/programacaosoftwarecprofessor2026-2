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147473933" r:id="rId2"/>
    <p:sldId id="2147473915" r:id="rId3"/>
    <p:sldId id="2147473916" r:id="rId4"/>
    <p:sldId id="2147473917" r:id="rId5"/>
    <p:sldId id="2147473918" r:id="rId6"/>
    <p:sldId id="2147473924" r:id="rId7"/>
    <p:sldId id="2147473926" r:id="rId8"/>
    <p:sldId id="2147473923" r:id="rId9"/>
    <p:sldId id="2147473925" r:id="rId10"/>
    <p:sldId id="2147473920" r:id="rId11"/>
    <p:sldId id="2147473921" r:id="rId12"/>
    <p:sldId id="2147473934" r:id="rId13"/>
    <p:sldId id="2147473935" r:id="rId14"/>
    <p:sldId id="2147473936" r:id="rId15"/>
    <p:sldId id="2147473937" r:id="rId16"/>
    <p:sldId id="2147473938" r:id="rId17"/>
    <p:sldId id="214747392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9B88F-AE85-4960-AAC6-BC79444C667F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31BC0-9C9E-429B-89AF-0ABEFECF47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72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A8D1F7F-46C5-8899-FD59-39CFEAB2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722B4823-7796-AD8C-05D2-A2D1615A4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75563556-4C05-4F87-2B55-FC91A063E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04C04BC5-84EE-AFF5-DCE5-E9E4297884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7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86E5DC8-1F41-8D66-4AA0-8BA0E3B0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943B7AF-D03C-1E43-D1D2-23576A0C8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BB3183A-1AAA-6425-8A85-E54FE0B6E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104426BB-DC33-3622-3797-57371A231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7206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4B8662B-7D54-7AD8-808E-010E0244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14A3BAE-B3AC-B531-383B-E1F6F1DCF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40A5BAD-5086-1EF9-2FC4-06CD03262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F3ADB931-2552-EDC4-DDA8-BFF83C0CEE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361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F99EED2-0E3A-98C7-C6EA-187BB7D6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AB150E8-A1A1-DC34-12DB-0AFBE5A4D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2C4A161-2724-F7D8-FC39-2BE52B683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4B85911-A171-874A-1156-28654E17F8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343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CC4DA47-5A61-8B7E-F4F4-0CF9D46A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67E208F-6639-AA13-3052-4C84A69A9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60CF9D3-D2DC-5DD1-6452-77DFEBFE5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15BBF1D-2FBC-207C-E8CD-F4D2AFDE6E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411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D6F4C934-36F8-A7DB-A6FE-5E1CA7EA6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AA4276F0-7EF2-B5BB-F609-9A815FAEF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D72976CB-EBF7-9F00-07EC-2C00AE04A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26BCC870-79D1-5EB3-9ECD-DE6F1474CE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654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385BB0E-A839-CF35-A221-EFD2C0AC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AAE3E31F-6933-FF81-3B8D-A38780E1FE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ACFFAD0D-5442-65CD-50BB-1C1C518DD4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E5BADB16-AA22-6D55-4C7B-1DFB00598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236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95ECF27-E48F-89D1-3002-983F7C0E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68AFAE22-61A8-BB14-7CAB-0C80294BD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3E143F19-C6E8-3838-2013-96952EA4A3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BB33D5BB-0A8C-66A4-6546-855F8DAEF5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4434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A9B0E4EC-CF27-A74D-53CA-F4355A8F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1C67F98A-5EA8-9C3C-7F0C-9A59D655C0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26276A6C-A8FD-B843-4F20-7A06A8DDD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434A7A6B-DF52-012D-B28A-6AF2B6A2D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76879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554FC59-FFA9-4078-BF5F-6665992C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EA6D8FBE-C99F-A8E5-646B-6210129F4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4AC1CB96-C5ED-6DC7-0C34-4287D3B33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59F2E4F1-3CC4-7A37-1206-A3417693A8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4170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18BB5-FA6D-CC65-45B1-CA9870596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BB6BBA-05B4-89C8-E8BB-70A4C31FB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311377-9B6D-DDE3-E75E-DD7FABD3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4FE05A-0383-331D-C355-96EA95CB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3BC77A-2FF8-1AC8-356B-05550234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9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EE7B3-8063-1909-7A70-A5F9A162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08774-1083-96CA-5EC6-7CE94D8C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C626B3-2F6B-A145-9DFB-78F3BBAC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07C56-E5B6-AE10-7729-190585E0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CE2144-C484-6228-3313-82115629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38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0BF84-0C9D-B60F-0DEA-8A2136C1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D9ED7-679D-7217-EB30-F5C518B1A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CDD1AC-85F0-82FC-D9DB-7E51DB76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5FFAAE-B3B3-7569-2951-EBCB2A4D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C733D1-5312-FB2D-E2F9-4CCB7EE9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79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38FC1-D1C1-ACB6-44D1-FD74000C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9BDB56-AB6D-CBB4-51B0-08733320E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474C0B-A260-98B3-E645-BB27F7CD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20D900-BC39-8647-1E02-41C9423F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0E70DA-B70F-53B0-5ECC-D978BBB7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DC9267-1508-00BC-9DAE-91023386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64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DA47B-47BB-DB6C-0912-3E8734EF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50ED6C-ACC8-00CF-54BE-630EAB767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859D85-9B61-AB78-FCD0-10B53CE7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299764-5B17-CE06-A79A-BCEF9374D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674F5CF-1B9F-266E-545B-394B94BE1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2A51A7-49F1-F725-BA1B-7CD40E3B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4718D1-49AF-D1F6-4FE4-715AF591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7ED924-C468-E4D1-87B1-95FB0958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83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55D90-8C20-7D0A-1301-E4041990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AAE92D-A383-4F96-0248-6A330F38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6C743F-FDEE-46E0-9C0E-00CD9260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EB1700-0384-0E0D-9477-C8389404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37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FCD78-9C90-DD77-3032-CB164258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E2FF4C-2A40-3DF3-86BD-DAA2C095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A2E145-3071-08F0-4246-574BC087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76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5D700-C160-8C31-7FEF-1A9F2034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B32C2-0E5F-F61D-F022-B43B87D6F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476616-E0E6-D219-B39F-40A660ACE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F9EDA6-3939-D37E-2E04-C6A4EF81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06CC05-7F65-B8AB-77C6-FC840CB2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4E2D38-3F59-CA28-B999-950C22A0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48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B904-EB7B-24BD-EF3D-C0C48F01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3F64AB-254F-2A6B-476C-071A05937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0DEFB0-4935-A73F-FE69-F27C16F95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4BA5B6-F3C9-2C63-9A9B-FE1C9B2C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FBD5EB-DD57-9AB8-CD29-8B13B1FA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F0A286-A49A-1AB3-ABF6-D925F99B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38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46CF7-5096-BB23-B18C-DB60B46C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D49A4C-E44B-D0B7-C9D6-8CE7A2A18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9D3713-DD4B-F5DC-6B8D-23802289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7E6FAA-CC9E-08F4-286B-EC1BF685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417624-8735-2079-3877-578EC756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18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E883F5-D05E-06A2-F102-FDC102261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FB823F-CEC8-8C67-5CD5-6C42E63A8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E7503A-ED6F-283E-69FE-BFE0E904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5AA4DF-20E7-A90F-59A2-1BF3276B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F1196-8166-4175-1F8F-EC686D3D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919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6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EFCC810-F934-C8CF-28E2-99F866E1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2BEE-F63E-943E-90F1-89FB69A0C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029A29-5431-6899-E71A-06C86F21C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88A39-ED6E-402A-82E0-9A572EBE2197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C0E22F-AAF0-D43C-A377-4EBF23D95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8C604B-2879-CFCB-C972-203546D2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62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5.png"/><Relationship Id="rId7" Type="http://schemas.openxmlformats.org/officeDocument/2006/relationships/hyperlink" Target="https://integrada.minhabiblioteca.com.br/#/books/9788577802401/cfi/0!/4/4@0.00:0.00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cfi/80!/4/2@100:0.00" TargetMode="External"/><Relationship Id="rId5" Type="http://schemas.openxmlformats.org/officeDocument/2006/relationships/hyperlink" Target="https://integrada.minhabiblioteca.com.br/#/books/9788521623212/" TargetMode="External"/><Relationship Id="rId10" Type="http://schemas.openxmlformats.org/officeDocument/2006/relationships/image" Target="../media/image11.jpeg"/><Relationship Id="rId4" Type="http://schemas.openxmlformats.org/officeDocument/2006/relationships/hyperlink" Target="https://integrada.minhabiblioteca.com.br/#/books/9788536519364/" TargetMode="External"/><Relationship Id="rId9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A8B8BCE-BC58-D1B6-962E-720CCF8C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DE931FF9-2D52-9682-6EA9-A24E6C409E0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D42DE456-985E-6D92-1F3B-3E2A6E510868}"/>
              </a:ext>
            </a:extLst>
          </p:cNvPr>
          <p:cNvSpPr/>
          <p:nvPr/>
        </p:nvSpPr>
        <p:spPr>
          <a:xfrm>
            <a:off x="1524000" y="2609013"/>
            <a:ext cx="8625036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Programação de Software Básico em C</a:t>
            </a:r>
            <a:endParaRPr sz="4400" b="1" dirty="0"/>
          </a:p>
        </p:txBody>
      </p:sp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5F8AAEB6-6DB2-C17E-A401-30F67A3556EE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65752CB-78EA-A872-F7D5-09632409B814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>
            <a:extLst>
              <a:ext uri="{FF2B5EF4-FFF2-40B4-BE49-F238E27FC236}">
                <a16:creationId xmlns:a16="http://schemas.microsoft.com/office/drawing/2014/main" id="{6DB710DD-9CAB-FAFA-A82E-B28B6B78D0D7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8F09A13B-8602-4BF6-0510-681F22FE16C0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BDC0E59D-6501-1242-B914-C642297C557B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>
            <a:extLst>
              <a:ext uri="{FF2B5EF4-FFF2-40B4-BE49-F238E27FC236}">
                <a16:creationId xmlns:a16="http://schemas.microsoft.com/office/drawing/2014/main" id="{6A07F720-F947-9828-A242-49BD8A9ACD83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FC476854-26E2-0AF8-2023-AEFF5F0DC5F6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>
            <a:extLst>
              <a:ext uri="{FF2B5EF4-FFF2-40B4-BE49-F238E27FC236}">
                <a16:creationId xmlns:a16="http://schemas.microsoft.com/office/drawing/2014/main" id="{E08C5752-B5BD-36D5-838A-E334B6CCDB88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C13878-5AEA-FEA0-F452-4956AAE2A1A8}"/>
              </a:ext>
            </a:extLst>
          </p:cNvPr>
          <p:cNvSpPr txBox="1"/>
          <p:nvPr/>
        </p:nvSpPr>
        <p:spPr>
          <a:xfrm>
            <a:off x="8382000" y="4444181"/>
            <a:ext cx="3463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Prof. </a:t>
            </a:r>
            <a:r>
              <a:rPr lang="pt-BR" dirty="0" err="1"/>
              <a:t>Ms</a:t>
            </a:r>
            <a:r>
              <a:rPr lang="pt-BR" dirty="0"/>
              <a:t> Dionizio Porfírio de Assis</a:t>
            </a:r>
          </a:p>
        </p:txBody>
      </p:sp>
    </p:spTree>
    <p:extLst>
      <p:ext uri="{BB962C8B-B14F-4D97-AF65-F5344CB8AC3E}">
        <p14:creationId xmlns:p14="http://schemas.microsoft.com/office/powerpoint/2010/main" val="263907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95973" y="1003570"/>
            <a:ext cx="668208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pt-BR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Prof</a:t>
            </a:r>
            <a:r>
              <a:rPr lang="pt-BR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Ms. Dionizio Porfírio de Assis</a:t>
            </a:r>
            <a:endParaRPr sz="32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462238" y="1445059"/>
            <a:ext cx="571500" cy="571500"/>
            <a:chOff x="285750" y="1365772"/>
            <a:chExt cx="428625" cy="428625"/>
          </a:xfrm>
        </p:grpSpPr>
        <p:sp>
          <p:nvSpPr>
            <p:cNvPr id="43" name="Google Shape;43;p2"/>
            <p:cNvSpPr/>
            <p:nvPr/>
          </p:nvSpPr>
          <p:spPr>
            <a:xfrm>
              <a:off x="285750" y="1365772"/>
              <a:ext cx="428625" cy="428625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" name="Google Shape;44;p2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5053" y="1507332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"/>
          <p:cNvSpPr/>
          <p:nvPr/>
        </p:nvSpPr>
        <p:spPr>
          <a:xfrm>
            <a:off x="1219476" y="1549164"/>
            <a:ext cx="12161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3366"/>
              </a:buClr>
              <a:buSzPts val="1350"/>
            </a:pPr>
            <a:r>
              <a:rPr lang="pt-BR" b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Formação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2"/>
          <p:cNvGrpSpPr/>
          <p:nvPr/>
        </p:nvGrpSpPr>
        <p:grpSpPr>
          <a:xfrm>
            <a:off x="410850" y="3598647"/>
            <a:ext cx="571500" cy="571500"/>
            <a:chOff x="285750" y="3729038"/>
            <a:chExt cx="428625" cy="428625"/>
          </a:xfrm>
        </p:grpSpPr>
        <p:sp>
          <p:nvSpPr>
            <p:cNvPr id="48" name="Google Shape;48;p2"/>
            <p:cNvSpPr/>
            <p:nvPr/>
          </p:nvSpPr>
          <p:spPr>
            <a:xfrm>
              <a:off x="285750" y="3729038"/>
              <a:ext cx="428625" cy="428625"/>
            </a:xfrm>
            <a:prstGeom prst="ellipse">
              <a:avLst/>
            </a:prstGeom>
            <a:solidFill>
              <a:srgbClr val="DC354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9" name="Google Shape;49;p2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3622" y="3857625"/>
              <a:ext cx="192881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"/>
          <p:cNvSpPr/>
          <p:nvPr/>
        </p:nvSpPr>
        <p:spPr>
          <a:xfrm>
            <a:off x="1065558" y="3763769"/>
            <a:ext cx="29110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3366"/>
              </a:buClr>
              <a:buSzPts val="1350"/>
            </a:pPr>
            <a:r>
              <a:rPr lang="pt-BR" b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Experiência Profissional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F7F0309-EFE1-EF2E-4EFF-E0BE67A7911B}"/>
              </a:ext>
            </a:extLst>
          </p:cNvPr>
          <p:cNvSpPr/>
          <p:nvPr/>
        </p:nvSpPr>
        <p:spPr>
          <a:xfrm>
            <a:off x="462237" y="2147508"/>
            <a:ext cx="7368779" cy="1292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1400" dirty="0"/>
              <a:t>Graduado em Engenharia de Telecomunicações pela Universidade Federal do Ceará (UFC).</a:t>
            </a:r>
          </a:p>
          <a:p>
            <a:r>
              <a:rPr lang="pt-BR" sz="1400" dirty="0"/>
              <a:t>Mestrado em Engenharia Elétrica pela Universidade Federal do Ceará (UFC), com pesquisa na área de Energias Renováveis e Sistemas Fotovoltaicos, com enfoque em monitoramento e aquisição de dados de plantas fotovoltaicas.</a:t>
            </a:r>
          </a:p>
          <a:p>
            <a:r>
              <a:rPr lang="pt-BR" sz="1400" dirty="0"/>
              <a:t>Doutorado em Engenharia Elétrica pela Universidade Federal do Ceará (UFC), em andamento.</a:t>
            </a:r>
          </a:p>
          <a:p>
            <a:r>
              <a:rPr lang="pt-BR" sz="1400" dirty="0"/>
              <a:t>Pós-graduado em Desenvolvimento Full Stack.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2B734C-9ED8-265E-B9AA-2BDE62BB0378}"/>
              </a:ext>
            </a:extLst>
          </p:cNvPr>
          <p:cNvSpPr txBox="1"/>
          <p:nvPr/>
        </p:nvSpPr>
        <p:spPr>
          <a:xfrm>
            <a:off x="372035" y="4258252"/>
            <a:ext cx="7625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Profissional com experiência docente em cursos de tecnologia e projetos de formação profissional, atuando no ensino de programação, desenvolvimento de software, bancos de dados, redes de computadores e análise de dados. Possui experiência com diferentes linguagens e paradigmas de programação, além do desenvolvimento de sistemas web, aplicações comerciais e soluções de monitoramento. Atua também nas áreas de Internet das Coisas, sistemas embarcados, comunicação de dados, automação e tecnologias aplicadas à Indústria 4.0. Sua trajetória acadêmica e profissional inclui ainda atividades de pesquisa, aplicação de métodos estatísticos, suporte técnico, liderança de equipes e acompanhamento de projetos de desenvolvimento tecnológico.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F41EE6-54E7-A854-B89A-C5BD74F0D30B}"/>
              </a:ext>
            </a:extLst>
          </p:cNvPr>
          <p:cNvSpPr txBox="1"/>
          <p:nvPr/>
        </p:nvSpPr>
        <p:spPr>
          <a:xfrm>
            <a:off x="1979237" y="5917972"/>
            <a:ext cx="619882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33" b="1" dirty="0">
                <a:solidFill>
                  <a:srgbClr val="002060"/>
                </a:solidFill>
              </a:rPr>
              <a:t>Dionizio.assis@professores.estácio.br</a:t>
            </a:r>
          </a:p>
        </p:txBody>
      </p:sp>
      <p:pic>
        <p:nvPicPr>
          <p:cNvPr id="7" name="Gráfico 6" descr="E-mail com preenchimento sólido">
            <a:extLst>
              <a:ext uri="{FF2B5EF4-FFF2-40B4-BE49-F238E27FC236}">
                <a16:creationId xmlns:a16="http://schemas.microsoft.com/office/drawing/2014/main" id="{A573CD9E-F2B1-B246-4E29-1714538A8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6193" y="5829551"/>
            <a:ext cx="462708" cy="4627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5172CB4-89B5-5810-F29A-EF337F71A4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67" y="1328375"/>
            <a:ext cx="3206694" cy="3924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Alunos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95973" y="1003570"/>
            <a:ext cx="319848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609585" lvl="1"/>
            <a:r>
              <a:rPr lang="pt-B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QUEM É VOCÊ?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80848" y="2505670"/>
            <a:ext cx="375315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Cidade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Trabalho</a:t>
            </a:r>
            <a:endParaRPr sz="2400"/>
          </a:p>
          <a:p>
            <a:pPr algn="just"/>
            <a:endParaRPr sz="2400" i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895" y="1681047"/>
            <a:ext cx="6533917" cy="4181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71622D-D93B-5A7A-2C77-9EECAC0A181C}"/>
              </a:ext>
            </a:extLst>
          </p:cNvPr>
          <p:cNvSpPr/>
          <p:nvPr/>
        </p:nvSpPr>
        <p:spPr>
          <a:xfrm>
            <a:off x="4222387" y="5083325"/>
            <a:ext cx="7683733" cy="140431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8" name="Google Shape;88;p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81000" y="219419"/>
            <a:ext cx="675202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PROGRAMAÇÃO DA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703" y="3686175"/>
            <a:ext cx="83344" cy="13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703" y="4114801"/>
            <a:ext cx="83344" cy="13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1301" y="2828926"/>
            <a:ext cx="133351" cy="1333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1" y="6781800"/>
            <a:ext cx="2031988" cy="76200"/>
          </a:xfrm>
          <a:prstGeom prst="rect">
            <a:avLst/>
          </a:prstGeom>
          <a:solidFill>
            <a:srgbClr val="003B7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031989" y="6781800"/>
            <a:ext cx="2031988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063975" y="6781800"/>
            <a:ext cx="2031988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95963" y="6781800"/>
            <a:ext cx="2031988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127951" y="6781800"/>
            <a:ext cx="2031988" cy="762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159938" y="6781800"/>
            <a:ext cx="2031988" cy="76200"/>
          </a:xfrm>
          <a:prstGeom prst="rect">
            <a:avLst/>
          </a:prstGeom>
          <a:solidFill>
            <a:srgbClr val="FF82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222387" y="3388695"/>
            <a:ext cx="7683733" cy="6759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609585" lvl="1" algn="ctr"/>
            <a:r>
              <a:rPr lang="pt-BR" sz="2000" b="1" dirty="0">
                <a:solidFill>
                  <a:srgbClr val="0B41BC"/>
                </a:solidFill>
                <a:latin typeface="Arial"/>
                <a:ea typeface="Arial"/>
                <a:cs typeface="Arial"/>
                <a:sym typeface="Arial"/>
              </a:rPr>
              <a:t>Quarta-feira 7:50h às 9:30h</a:t>
            </a:r>
            <a:endParaRPr sz="2400" dirty="0"/>
          </a:p>
        </p:txBody>
      </p:sp>
      <p:sp>
        <p:nvSpPr>
          <p:cNvPr id="101" name="Google Shape;101;p4"/>
          <p:cNvSpPr/>
          <p:nvPr/>
        </p:nvSpPr>
        <p:spPr>
          <a:xfrm>
            <a:off x="197992" y="3285183"/>
            <a:ext cx="3770365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AULAS AO VIVO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222387" y="1119127"/>
            <a:ext cx="7683733" cy="69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04/08/2026 a 01/12/2026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97993" y="994051"/>
            <a:ext cx="3822039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OFERTA DA DISCIPLINA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222387" y="2242608"/>
            <a:ext cx="7683733" cy="6759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TEAMS – E-mail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46319" y="2147656"/>
            <a:ext cx="3822039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ATENDIMENTO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62097" y="4989972"/>
            <a:ext cx="3801377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AVALIAÇÕES</a:t>
            </a:r>
          </a:p>
          <a:p>
            <a:pPr algn="ctr"/>
            <a:r>
              <a:rPr lang="pt-BR" sz="1733" b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(SIMULADOS - AV/AVS)</a:t>
            </a:r>
            <a:endParaRPr sz="1733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Google Shape;104;p4">
            <a:extLst>
              <a:ext uri="{FF2B5EF4-FFF2-40B4-BE49-F238E27FC236}">
                <a16:creationId xmlns:a16="http://schemas.microsoft.com/office/drawing/2014/main" id="{03407184-F30B-FE1B-D8C7-C9C623424C28}"/>
              </a:ext>
            </a:extLst>
          </p:cNvPr>
          <p:cNvSpPr/>
          <p:nvPr/>
        </p:nvSpPr>
        <p:spPr>
          <a:xfrm>
            <a:off x="4222387" y="4517286"/>
            <a:ext cx="3797923" cy="5080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Simulado 1 – </a:t>
            </a:r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 à 26/09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Google Shape;108;p4">
            <a:extLst>
              <a:ext uri="{FF2B5EF4-FFF2-40B4-BE49-F238E27FC236}">
                <a16:creationId xmlns:a16="http://schemas.microsoft.com/office/drawing/2014/main" id="{5074DB48-9E1E-3CF8-6E5C-9538F675A0B9}"/>
              </a:ext>
            </a:extLst>
          </p:cNvPr>
          <p:cNvSpPr/>
          <p:nvPr/>
        </p:nvSpPr>
        <p:spPr>
          <a:xfrm>
            <a:off x="8184738" y="4515606"/>
            <a:ext cx="3721383" cy="5080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Simulado 2 – 09 à 14/11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9F538A8-7B66-F86F-658D-974C71D9B176}"/>
              </a:ext>
            </a:extLst>
          </p:cNvPr>
          <p:cNvSpPr txBox="1"/>
          <p:nvPr/>
        </p:nvSpPr>
        <p:spPr>
          <a:xfrm>
            <a:off x="4854672" y="5085004"/>
            <a:ext cx="6096000" cy="14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133" b="1" dirty="0">
                <a:solidFill>
                  <a:srgbClr val="0B41BC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Agendamento AV  -  16/09 à 19/11</a:t>
            </a:r>
            <a:endParaRPr lang="pt-BR" sz="2133" dirty="0"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/>
            <a:r>
              <a:rPr lang="pt-BR" sz="2133" b="1" dirty="0">
                <a:solidFill>
                  <a:srgbClr val="0B41BC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Agendamento AVS -  24/09 à 03/12</a:t>
            </a:r>
          </a:p>
          <a:p>
            <a:pPr algn="ctr"/>
            <a:endParaRPr lang="pt-BR" sz="2133" b="1" dirty="0">
              <a:solidFill>
                <a:srgbClr val="0B41BC"/>
              </a:solidFill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/>
            <a:r>
              <a:rPr lang="pt-BR" sz="2133" b="1" dirty="0">
                <a:solidFill>
                  <a:srgbClr val="FF0000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Realização AV / AVS – 23/11 à 05/12</a:t>
            </a:r>
            <a:endParaRPr lang="pt-BR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524000" y="1148506"/>
            <a:ext cx="8860447" cy="474794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342900" indent="-342900">
              <a:buAutoNum type="arabicPeriod"/>
            </a:pPr>
            <a:r>
              <a:rPr lang="pt-BR" sz="2000" b="1" dirty="0"/>
              <a:t>BIBLIOTECAS E APIS PARA LINGUAGEM C</a:t>
            </a:r>
          </a:p>
          <a:p>
            <a:pPr marL="342900" indent="-342900">
              <a:buAutoNum type="arabicPeriod"/>
            </a:pPr>
            <a:endParaRPr lang="pt-BR" dirty="0"/>
          </a:p>
          <a:p>
            <a:r>
              <a:rPr lang="pt-BR" dirty="0"/>
              <a:t>1.1 LINGUAGEM C NA PROGRAMAÇÃO DE SISTEMAS</a:t>
            </a:r>
          </a:p>
          <a:p>
            <a:r>
              <a:rPr lang="pt-BR" dirty="0"/>
              <a:t>1.2 DATAS, HORÁRIOS E GRÁFICOS</a:t>
            </a:r>
          </a:p>
          <a:p>
            <a:r>
              <a:rPr lang="pt-BR" dirty="0"/>
              <a:t>1.3 GRÁFICOS COM OPENGL</a:t>
            </a:r>
          </a:p>
          <a:p>
            <a:r>
              <a:rPr lang="pt-BR" dirty="0"/>
              <a:t>1.4 CAPTURA DE EVENTOS TECLADO, MOUSE</a:t>
            </a:r>
          </a:p>
          <a:p>
            <a:r>
              <a:rPr lang="pt-BR" dirty="0"/>
              <a:t>1.5 EVENTOS DE TECLADO E MOUSE COM OPENGL</a:t>
            </a:r>
          </a:p>
          <a:p>
            <a:endParaRPr lang="pt-BR" dirty="0"/>
          </a:p>
          <a:p>
            <a:r>
              <a:rPr lang="pt-BR" sz="2000" b="1" dirty="0"/>
              <a:t>2. </a:t>
            </a:r>
            <a:r>
              <a:rPr lang="pt-BR" b="1" dirty="0"/>
              <a:t>ENTRADAS E SAÍDAS EM LINGUAGEM C</a:t>
            </a:r>
          </a:p>
          <a:p>
            <a:endParaRPr lang="pt-BR" dirty="0"/>
          </a:p>
          <a:p>
            <a:r>
              <a:rPr lang="pt-BR" dirty="0"/>
              <a:t>2.1 ENTRADA E SAÍDA PELO CONSOLE</a:t>
            </a:r>
          </a:p>
          <a:p>
            <a:r>
              <a:rPr lang="pt-BR" dirty="0"/>
              <a:t>2.2 ENTRADA E SAÍDA POR ARQUIVOS FUNDAMENTOS DO SISTEMA DE ARQUIVOS</a:t>
            </a:r>
          </a:p>
        </p:txBody>
      </p:sp>
      <p:sp>
        <p:nvSpPr>
          <p:cNvPr id="128" name="Google Shape;128;p5"/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0008BD1-CFAE-8B42-437C-39525906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>
            <a:extLst>
              <a:ext uri="{FF2B5EF4-FFF2-40B4-BE49-F238E27FC236}">
                <a16:creationId xmlns:a16="http://schemas.microsoft.com/office/drawing/2014/main" id="{D5CE78D5-550D-6D4D-54AE-72466D32DF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22F2C742-2FAE-8006-1A8A-1A015648A92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906A0205-FBDF-AFE9-062E-38ECE3EB1A20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CC0EF2D7-A836-E0C5-EC07-3F3ABBA1FF9F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EAA8D643-3FD1-FDFC-AE6D-7DF6B680E927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5989EA81-5D5B-A385-4B28-A173CA95F1C8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DCD2BD86-5D4B-73F1-9D61-2E46E1A74601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877D57D8-4E7E-ED01-24B2-BE3E2D9D0CC9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D36135EA-5E5C-DF4F-E91B-43ED47D6F315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F529CC72-3169-043D-A98B-C3A196457688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8E721E06-A889-86AC-FBD0-BC7A144F8059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21E0491-2BBF-2BE2-C187-45977158A311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>
            <a:extLst>
              <a:ext uri="{FF2B5EF4-FFF2-40B4-BE49-F238E27FC236}">
                <a16:creationId xmlns:a16="http://schemas.microsoft.com/office/drawing/2014/main" id="{3AD17CA1-A60F-C143-0935-90D0F4E4DAD3}"/>
              </a:ext>
            </a:extLst>
          </p:cNvPr>
          <p:cNvSpPr/>
          <p:nvPr/>
        </p:nvSpPr>
        <p:spPr>
          <a:xfrm>
            <a:off x="1443304" y="1149320"/>
            <a:ext cx="8860447" cy="496654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000" b="1" dirty="0"/>
              <a:t>3. ACESSO ÀS PORTAS DE HARDWARE (ATIVIDADE PRÁTICA SUPERVISIONADA)</a:t>
            </a:r>
          </a:p>
          <a:p>
            <a:endParaRPr lang="pt-BR" dirty="0"/>
          </a:p>
          <a:p>
            <a:r>
              <a:rPr lang="pt-BR" dirty="0"/>
              <a:t>3.1 ACESSO À PORTA SERIAL</a:t>
            </a:r>
          </a:p>
          <a:p>
            <a:r>
              <a:rPr lang="pt-BR" dirty="0"/>
              <a:t>3.2 CONTROLE DE DISPOSITIVOS COM MICROCONTROLADORES</a:t>
            </a:r>
          </a:p>
          <a:p>
            <a:r>
              <a:rPr lang="pt-BR" dirty="0"/>
              <a:t>3.3 AQUISIÇÃO DE DADOS COM MICROCONTROLADORES</a:t>
            </a:r>
          </a:p>
          <a:p>
            <a:endParaRPr lang="pt-BR" dirty="0"/>
          </a:p>
          <a:p>
            <a:r>
              <a:rPr lang="pt-BR" sz="2000" b="1" dirty="0"/>
              <a:t>4. ACESSO ÀS PORTAS DE COMUNICAÇÃO EM LINGUAGEM C</a:t>
            </a:r>
          </a:p>
          <a:p>
            <a:endParaRPr lang="pt-BR" dirty="0"/>
          </a:p>
          <a:p>
            <a:r>
              <a:rPr lang="pt-BR" dirty="0"/>
              <a:t>4.1 SOCKETS E CLIENTE/SERVIDOR TCP E UDP</a:t>
            </a:r>
          </a:p>
          <a:p>
            <a:r>
              <a:rPr lang="pt-BR" dirty="0"/>
              <a:t>4.2 CLIENTE/SERVIDOR HTTP E CLIENTE MQTT PARA IOT</a:t>
            </a:r>
          </a:p>
          <a:p>
            <a:endParaRPr lang="pt-BR" sz="2133" dirty="0"/>
          </a:p>
        </p:txBody>
      </p:sp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BB403356-5B97-A07A-61AE-73AF0CDE488B}"/>
              </a:ext>
            </a:extLst>
          </p:cNvPr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1853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708FB6B-1D44-EF6E-BB6A-EC17A49B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>
            <a:extLst>
              <a:ext uri="{FF2B5EF4-FFF2-40B4-BE49-F238E27FC236}">
                <a16:creationId xmlns:a16="http://schemas.microsoft.com/office/drawing/2014/main" id="{2B28202D-5F5B-3DF5-A57F-B4B6C962B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BE467D1E-19A1-183E-1E34-49272C8A641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F836E35C-AA59-A0D4-6E22-F36388D9833A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AF27E11B-82EF-2BB6-61CA-B0D059BDC794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7BD92EA3-3C35-079F-C1F3-B23AFE0D09C6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A57C9531-6688-C833-04BD-72B2420A764E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D3AAF122-1314-6E30-7D2F-0649A0A8EFA7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A3FB92F4-735C-6EBA-7787-0847534773C5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EA45F047-DF44-0F04-1549-D62BA06E8BC8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40BA6536-7738-F28C-4DD7-1C379026A4E6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539ED359-35BE-86A2-BB7D-1D9EE9EFA75F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7E91DF06-25BE-749B-D9F4-59F9FD8AF579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>
            <a:extLst>
              <a:ext uri="{FF2B5EF4-FFF2-40B4-BE49-F238E27FC236}">
                <a16:creationId xmlns:a16="http://schemas.microsoft.com/office/drawing/2014/main" id="{C4FC6A4E-EF72-B4C8-0552-98527F264E3E}"/>
              </a:ext>
            </a:extLst>
          </p:cNvPr>
          <p:cNvSpPr/>
          <p:nvPr/>
        </p:nvSpPr>
        <p:spPr>
          <a:xfrm>
            <a:off x="1443304" y="1149320"/>
            <a:ext cx="9323019" cy="227968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000" b="1" dirty="0"/>
              <a:t>5. PROCESSOS E TAREFAS</a:t>
            </a:r>
          </a:p>
          <a:p>
            <a:endParaRPr lang="pt-BR" dirty="0"/>
          </a:p>
          <a:p>
            <a:r>
              <a:rPr lang="pt-BR" dirty="0"/>
              <a:t>5.1 CRIAÇÃO DE PROCESSOS COM FORK</a:t>
            </a:r>
          </a:p>
          <a:p>
            <a:r>
              <a:rPr lang="pt-BR" dirty="0"/>
              <a:t>5.2 FUNÇÕES PARA THREAD BÁSICAS</a:t>
            </a:r>
          </a:p>
          <a:p>
            <a:r>
              <a:rPr lang="pt-BR" dirty="0"/>
              <a:t>5.3 SINCRONIZAÇÃO DE THREADS</a:t>
            </a:r>
            <a:endParaRPr lang="pt-BR" sz="2133" dirty="0"/>
          </a:p>
        </p:txBody>
      </p:sp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9C63EFF2-2F03-67D9-3C8A-F0DD364AC460}"/>
              </a:ext>
            </a:extLst>
          </p:cNvPr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7205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EF13D78-DEF7-1F02-33F5-336F774F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AA9E1CB-A8A1-5D55-4264-5EF7343B80D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9D5116B4-C925-716D-F330-92776239D189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6AAD5864-0039-142A-025E-B16454B8F375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0E8A8C47-173F-9BCE-4D7B-5BDDEBA3A1BA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BE83F214-C352-9107-CB6C-4FBD2A37DEEC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55231F51-BDFE-A4AC-9153-B7F8C02FA6E8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5E4B4D0A-AAE6-EADD-0627-4146BD788EBE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4E660DC9-8E3E-B5AF-3501-FBE6601791FC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EF9EDC91-B12D-852E-8E79-60E638969E62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DBCC32EA-C0B6-C6D8-2F7C-62F6AADCF1E7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A78D6BE-1325-276B-2834-5DF2566E4D4B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30822706-8A68-1B43-274B-ED81FCCE8067}"/>
              </a:ext>
            </a:extLst>
          </p:cNvPr>
          <p:cNvSpPr/>
          <p:nvPr/>
        </p:nvSpPr>
        <p:spPr>
          <a:xfrm>
            <a:off x="1338417" y="1752602"/>
            <a:ext cx="8849032" cy="42604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133" dirty="0"/>
              <a:t>Aplicar bibliotecas e APIs para a linguagem C, baseadas na captura de eventos e interrupções do sistema operacional, para a construção de interfaces com o usuário e animações gráficas.</a:t>
            </a:r>
          </a:p>
          <a:p>
            <a:endParaRPr lang="pt-BR" sz="2133" dirty="0"/>
          </a:p>
          <a:p>
            <a:r>
              <a:rPr lang="pt-BR" sz="2133" dirty="0"/>
              <a:t>Examinar funções de entrada e saída em linguagem C, alicerçadas no vínculo com as funções de entrada e saída do sistema operacional, para a criação de aplicações robustas e confiáveis no armazenamento de dados.</a:t>
            </a:r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9CBBA3F6-87C0-BC95-F56E-0A6E9CCF9CFB}"/>
              </a:ext>
            </a:extLst>
          </p:cNvPr>
          <p:cNvSpPr/>
          <p:nvPr/>
        </p:nvSpPr>
        <p:spPr>
          <a:xfrm>
            <a:off x="7988106" y="1148503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0810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5681F79-E14C-A7CA-8B55-7C7F0C15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1876D58D-3511-1A60-F20E-EE67B49CEEB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AA5AA55F-EDF2-A155-5CB2-7F82F7C0FE42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D0647DEA-8D52-0743-87F2-75174F8F85D8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22356133-E698-F607-CC49-AAEDDCA0DBC4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CADAAD3E-1B90-1055-C9C3-E035F7354CB4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4CCDF43D-50E9-9C6B-D029-5BFD25ABE2A5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A0976285-C0B7-BFCC-E994-45D5D9837683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3C16CC91-8A7B-7D86-8892-369C1F03F87C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3559EE3E-DF0E-3168-AE35-5727F31CE137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D5A980F8-F27F-47A0-8FB8-247A587284D1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9C107098-4CEE-C705-C8DB-D22E382F0793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DF7C565B-DC0E-D42F-21A7-8AE1B44E2E0B}"/>
              </a:ext>
            </a:extLst>
          </p:cNvPr>
          <p:cNvSpPr/>
          <p:nvPr/>
        </p:nvSpPr>
        <p:spPr>
          <a:xfrm>
            <a:off x="1333501" y="1858749"/>
            <a:ext cx="8860447" cy="447242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100" dirty="0"/>
              <a:t>Empregar as regras de acesso ao hardware da linguagem C, baseadas em protocolos de comunicação serial, para a elaboração de soluções de controle de dispositivos e aquisição de dados em sistemas computacionais.</a:t>
            </a:r>
          </a:p>
          <a:p>
            <a:endParaRPr lang="pt-BR" dirty="0"/>
          </a:p>
          <a:p>
            <a:r>
              <a:rPr lang="pt-BR" sz="2000" dirty="0"/>
              <a:t>Estruturar aplicações cliente/servidor, baseadas na API do soquete e nos protocolos de comunicação por rede mais utilizados, para praticar as técnicas de criação de sistemas distribuídos e de IoT.</a:t>
            </a:r>
          </a:p>
          <a:p>
            <a:endParaRPr lang="pt-BR" sz="2000" dirty="0"/>
          </a:p>
          <a:p>
            <a:r>
              <a:rPr lang="pt-BR" sz="2000" dirty="0"/>
              <a:t>Analisar as principais funções para programar tarefas e processos paralelos em sistemas operacionais, com base no padrão POSIX threads e na chamada de sistema </a:t>
            </a:r>
            <a:r>
              <a:rPr lang="pt-BR" sz="2000" dirty="0" err="1"/>
              <a:t>fork</a:t>
            </a:r>
            <a:r>
              <a:rPr lang="pt-BR" sz="2000" dirty="0"/>
              <a:t>, para determinar as vantagens e as possibilidades de aumento de desempenho de cada abordagem.</a:t>
            </a:r>
            <a:endParaRPr sz="2000" dirty="0"/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E9947B04-3F8A-D9D3-B183-1E49407CC2D7}"/>
              </a:ext>
            </a:extLst>
          </p:cNvPr>
          <p:cNvSpPr/>
          <p:nvPr/>
        </p:nvSpPr>
        <p:spPr>
          <a:xfrm>
            <a:off x="7988106" y="1148503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7217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Bibliografia Básica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6013" y="1466986"/>
            <a:ext cx="7523987" cy="466812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dirty="0"/>
              <a:t>MANZANO, José Augusto N. G. </a:t>
            </a:r>
            <a:r>
              <a:rPr lang="pt-BR" b="1" dirty="0"/>
              <a:t>Linguagem C Acompanhada</a:t>
            </a:r>
          </a:p>
          <a:p>
            <a:r>
              <a:rPr lang="pt-BR" b="1" dirty="0"/>
              <a:t>de uma Xícara de Café</a:t>
            </a:r>
            <a:r>
              <a:rPr lang="pt-BR" dirty="0"/>
              <a:t>. 1a.. São Paulo: Érica, 2015. Disponível em: </a:t>
            </a:r>
            <a:r>
              <a:rPr lang="pt-BR" dirty="0">
                <a:hlinkClick r:id="rId4"/>
              </a:rPr>
              <a:t>https://integrada.minhabiblioteca.com.br/#/books/9788536519364/</a:t>
            </a:r>
            <a:endParaRPr lang="pt-BR" dirty="0"/>
          </a:p>
          <a:p>
            <a:endParaRPr lang="pt-BR" dirty="0"/>
          </a:p>
          <a:p>
            <a:r>
              <a:rPr lang="pt-BR" dirty="0"/>
              <a:t>SILBERSCHATZ, Abraham; GALVIN, Peter B.; GAGNE, Greg;. </a:t>
            </a:r>
            <a:r>
              <a:rPr lang="pt-BR" b="1" dirty="0"/>
              <a:t>Fundamentos de Sistemas Operacionais Princípios Básicos.</a:t>
            </a:r>
            <a:r>
              <a:rPr lang="pt-BR" dirty="0"/>
              <a:t>. </a:t>
            </a:r>
            <a:r>
              <a:rPr lang="pt-BR" dirty="0" err="1"/>
              <a:t>Hoboken</a:t>
            </a:r>
            <a:r>
              <a:rPr lang="pt-BR" dirty="0"/>
              <a:t>, NJ: </a:t>
            </a:r>
            <a:r>
              <a:rPr lang="pt-BR" dirty="0" err="1"/>
              <a:t>john</a:t>
            </a:r>
            <a:r>
              <a:rPr lang="pt-BR" dirty="0"/>
              <a:t> </a:t>
            </a:r>
            <a:r>
              <a:rPr lang="pt-BR" dirty="0" err="1"/>
              <a:t>wiley</a:t>
            </a:r>
            <a:r>
              <a:rPr lang="pt-BR" dirty="0"/>
              <a:t> &amp; sons Disponível em: </a:t>
            </a:r>
            <a:r>
              <a:rPr lang="pt-BR" dirty="0">
                <a:hlinkClick r:id="rId5"/>
              </a:rPr>
              <a:t>https://integrada.minhabiblioteca.com.br/#/books/9788521623212/</a:t>
            </a:r>
            <a:r>
              <a:rPr lang="pt-BR" dirty="0"/>
              <a:t> </a:t>
            </a:r>
            <a:r>
              <a:rPr lang="pt-BR" dirty="0" err="1">
                <a:hlinkClick r:id="rId6"/>
              </a:rPr>
              <a:t>cfi</a:t>
            </a:r>
            <a:r>
              <a:rPr lang="pt-BR" dirty="0">
                <a:hlinkClick r:id="rId6"/>
              </a:rPr>
              <a:t>/80!/4/2@100:0.00</a:t>
            </a:r>
            <a:endParaRPr lang="pt-BR" dirty="0"/>
          </a:p>
          <a:p>
            <a:endParaRPr lang="pt-BR" dirty="0"/>
          </a:p>
          <a:p>
            <a:r>
              <a:rPr lang="pt-BR" dirty="0"/>
              <a:t>STEVENS, William R; FENNER, B.; RUDOFF, Andrew M. </a:t>
            </a:r>
            <a:r>
              <a:rPr lang="pt-BR" b="1" dirty="0"/>
              <a:t>Programação de Rede Unix</a:t>
            </a:r>
            <a:r>
              <a:rPr lang="pt-BR" dirty="0"/>
              <a:t>. 3ª ed.. Porto Alegre: Bookman, 2008. Disponível em:</a:t>
            </a:r>
          </a:p>
          <a:p>
            <a:r>
              <a:rPr lang="pt-BR" dirty="0">
                <a:hlinkClick r:id="rId7"/>
              </a:rPr>
              <a:t>https://integrada.minhabiblioteca.com.br/#/books/9788577802401/cfi/0!/4/4@0.00:0.00/</a:t>
            </a:r>
            <a:endParaRPr lang="pt-BR" dirty="0"/>
          </a:p>
          <a:p>
            <a:endParaRPr lang="pt-BR" dirty="0"/>
          </a:p>
        </p:txBody>
      </p:sp>
      <p:pic>
        <p:nvPicPr>
          <p:cNvPr id="2" name="Imagem 1" descr="Linguagem c: acompanhada de uma xicara de cafe">
            <a:extLst>
              <a:ext uri="{FF2B5EF4-FFF2-40B4-BE49-F238E27FC236}">
                <a16:creationId xmlns:a16="http://schemas.microsoft.com/office/drawing/2014/main" id="{14BDF13B-1679-9DD7-7373-2A118728E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2835" y="685803"/>
            <a:ext cx="2038350" cy="2914650"/>
          </a:xfrm>
          <a:prstGeom prst="rect">
            <a:avLst/>
          </a:prstGeom>
        </p:spPr>
      </p:pic>
      <p:pic>
        <p:nvPicPr>
          <p:cNvPr id="5" name="Imagem 4" descr="Fundamentos de Sistemas Operacionais eBook : Silberschatz, Abraham, Galvin,  Peter Baer, Gagne, Greg: Amazon.com.br: Loja Kindle">
            <a:extLst>
              <a:ext uri="{FF2B5EF4-FFF2-40B4-BE49-F238E27FC236}">
                <a16:creationId xmlns:a16="http://schemas.microsoft.com/office/drawing/2014/main" id="{40E20233-1F00-BE56-BA9D-31012D55E6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8020" y="3758131"/>
            <a:ext cx="2164452" cy="2880450"/>
          </a:xfrm>
          <a:prstGeom prst="rect">
            <a:avLst/>
          </a:prstGeom>
        </p:spPr>
      </p:pic>
      <p:pic>
        <p:nvPicPr>
          <p:cNvPr id="6" name="Imagem 5" descr="Programação de Rede UNIX: API para Soquetes de Rede eBook : Stevens, W.  Richard, Fenner, Bill, Rudoff, Andrew M.: Amazon.com.br: Loja Kindle">
            <a:extLst>
              <a:ext uri="{FF2B5EF4-FFF2-40B4-BE49-F238E27FC236}">
                <a16:creationId xmlns:a16="http://schemas.microsoft.com/office/drawing/2014/main" id="{EFEE1104-DABE-69FF-0D86-1C229276CB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1185" y="2200291"/>
            <a:ext cx="2208903" cy="31782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Preparando o ambiente</a:t>
            </a:r>
            <a:endParaRPr sz="2400" dirty="0"/>
          </a:p>
        </p:txBody>
      </p:sp>
      <p:pic>
        <p:nvPicPr>
          <p:cNvPr id="2" name="Imagem 1" descr="Visual Studio Code - Download and install on Windows | Microsoft Store">
            <a:extLst>
              <a:ext uri="{FF2B5EF4-FFF2-40B4-BE49-F238E27FC236}">
                <a16:creationId xmlns:a16="http://schemas.microsoft.com/office/drawing/2014/main" id="{AAD7276C-F0DB-8519-27D0-C340FC4F8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55" y="2060756"/>
            <a:ext cx="916859" cy="916859"/>
          </a:xfrm>
          <a:prstGeom prst="rect">
            <a:avLst/>
          </a:prstGeom>
        </p:spPr>
      </p:pic>
      <p:pic>
        <p:nvPicPr>
          <p:cNvPr id="3" name="Imagem 2" descr="Git – Wikipédia, a enciclopédia livre">
            <a:extLst>
              <a:ext uri="{FF2B5EF4-FFF2-40B4-BE49-F238E27FC236}">
                <a16:creationId xmlns:a16="http://schemas.microsoft.com/office/drawing/2014/main" id="{339B4510-A3DD-1EE9-CD89-5B10A0E2A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3388444"/>
            <a:ext cx="2293372" cy="95832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BDA74DA-50D6-CB88-CD02-6120F6FDF751}"/>
              </a:ext>
            </a:extLst>
          </p:cNvPr>
          <p:cNvSpPr txBox="1"/>
          <p:nvPr/>
        </p:nvSpPr>
        <p:spPr>
          <a:xfrm>
            <a:off x="2065021" y="2162748"/>
            <a:ext cx="20652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VS code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277C90-EEBD-7248-D86C-90E83AE74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27" y="4642385"/>
            <a:ext cx="1107652" cy="130680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2F9BE68-3858-B4E6-7FEC-162F70B059B0}"/>
              </a:ext>
            </a:extLst>
          </p:cNvPr>
          <p:cNvSpPr txBox="1"/>
          <p:nvPr/>
        </p:nvSpPr>
        <p:spPr>
          <a:xfrm>
            <a:off x="1978504" y="4951722"/>
            <a:ext cx="29562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Compilador</a:t>
            </a:r>
          </a:p>
        </p:txBody>
      </p:sp>
      <p:pic>
        <p:nvPicPr>
          <p:cNvPr id="11" name="Imagem 10" descr="Dev-C++ para Windows - Baixe gratuitamente na Uptodown">
            <a:extLst>
              <a:ext uri="{FF2B5EF4-FFF2-40B4-BE49-F238E27FC236}">
                <a16:creationId xmlns:a16="http://schemas.microsoft.com/office/drawing/2014/main" id="{E2B88CA5-C746-956E-5F70-2A560CA61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5176" y="2200238"/>
            <a:ext cx="916859" cy="916859"/>
          </a:xfrm>
          <a:prstGeom prst="rect">
            <a:avLst/>
          </a:prstGeom>
        </p:spPr>
      </p:pic>
      <p:pic>
        <p:nvPicPr>
          <p:cNvPr id="12" name="Imagem 11" descr="GitHub: Começando com Controle de Versões e Colaboração">
            <a:extLst>
              <a:ext uri="{FF2B5EF4-FFF2-40B4-BE49-F238E27FC236}">
                <a16:creationId xmlns:a16="http://schemas.microsoft.com/office/drawing/2014/main" id="{03DD4BDB-8CBD-1A82-0B07-273FFAB94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3388444"/>
            <a:ext cx="3746090" cy="13885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D9148EC-E0FA-6680-D6F2-6E54BE28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F8D3C296-189D-985C-CF93-B225035269F6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88E5B19B-A20C-D4CC-4BBC-D7C75A1AA14D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B41C364D-2DEF-461F-36E7-81C30FF78FE7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26E6CFD7-4643-CDAE-9520-A13AF05AED80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69AB65C9-D14D-F9A7-D7EA-0E5316677713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EEDEEABF-F677-5761-2B29-05EF957CDC0A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9A43BCA0-5E9B-9A9F-11EF-8DC13E2482BE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560947F5-DC76-F8E3-41C8-16D329A30A28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AB70C906-0A68-07BC-DA45-A4DD9F239EA1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03DE1429-881A-6B16-BA2F-6A7E00450433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0C446C50-D509-3291-D2C8-73EDE65883AA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514CBF8B-B88F-5373-4A39-7F35C439E920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A8CAE6-02F7-7F17-50B4-023221AEB795}"/>
              </a:ext>
            </a:extLst>
          </p:cNvPr>
          <p:cNvSpPr txBox="1"/>
          <p:nvPr/>
        </p:nvSpPr>
        <p:spPr>
          <a:xfrm>
            <a:off x="228137" y="1567936"/>
            <a:ext cx="5926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O que é uma linguagem de programação?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1C05C5-B7C3-ECB5-1622-DCCC12D406F5}"/>
              </a:ext>
            </a:extLst>
          </p:cNvPr>
          <p:cNvSpPr txBox="1"/>
          <p:nvPr/>
        </p:nvSpPr>
        <p:spPr>
          <a:xfrm>
            <a:off x="452284" y="2507226"/>
            <a:ext cx="11072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Uma linguagem de programação é uma linguagem formal utilizada para descrever instruções que podem ser executadas por um computador. Por meio dela, o programador representa: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A4600BC-8789-5B8C-D8F6-B35139A0F402}"/>
              </a:ext>
            </a:extLst>
          </p:cNvPr>
          <p:cNvSpPr txBox="1"/>
          <p:nvPr/>
        </p:nvSpPr>
        <p:spPr>
          <a:xfrm>
            <a:off x="540775" y="3254354"/>
            <a:ext cx="41311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dados;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operações;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decisões;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repetições;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organização e reutilização de código.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91781CF-92FF-1C1B-933D-564B1392E6CB}"/>
              </a:ext>
            </a:extLst>
          </p:cNvPr>
          <p:cNvSpPr txBox="1"/>
          <p:nvPr/>
        </p:nvSpPr>
        <p:spPr>
          <a:xfrm>
            <a:off x="540775" y="5057679"/>
            <a:ext cx="1028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 programa pode ser entendido, de maneira simplificada, como uma </a:t>
            </a:r>
            <a:r>
              <a:rPr lang="pt-BR" b="1" dirty="0"/>
              <a:t>sequência organizada de instruções destinadas à resolução de um problema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8032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7C6F509-4879-82E4-87DD-2D8F9E7E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0DB6327A-4DF2-B8A3-DBAF-E4819E1B1011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2EFBC40D-2064-C39D-C746-366B98EEB1B0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F5FC7182-D96F-EC48-0508-CEE1C2288660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D1BD8017-6536-7D62-D6CA-83DA8CC43BC7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E19E1A30-83F7-BF90-1ADA-D265F849A0AB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6B11A4D2-83EA-D055-AA57-C2D0E751FAC8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4D5697C8-5C9F-827A-35C4-2992031EDBE1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9127BDD0-BD1D-96DD-DEBF-BFE83EB1A0F8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F1BCA61B-4C6E-DAB0-D828-9E8DE78F569B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07B57B71-E185-566A-8C73-DA9E59B0E4E4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6FE8C853-1EC8-76C4-CF4B-8F3081E25EFE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C77836AC-E845-EAEB-C590-CDDBEE2CCEE8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4D633CB-F1FF-48FF-EAB5-0B786E55B774}"/>
              </a:ext>
            </a:extLst>
          </p:cNvPr>
          <p:cNvSpPr txBox="1"/>
          <p:nvPr/>
        </p:nvSpPr>
        <p:spPr>
          <a:xfrm>
            <a:off x="228137" y="1453859"/>
            <a:ext cx="4827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Onde a linguagem C se encaixa?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0D021CD-7D48-0D25-F194-B1537826DC8E}"/>
              </a:ext>
            </a:extLst>
          </p:cNvPr>
          <p:cNvSpPr txBox="1"/>
          <p:nvPr/>
        </p:nvSpPr>
        <p:spPr>
          <a:xfrm>
            <a:off x="357498" y="2086911"/>
            <a:ext cx="1107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linguagem C é uma linguagem: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F5F3B1-AA8E-6B54-A621-532306B00909}"/>
              </a:ext>
            </a:extLst>
          </p:cNvPr>
          <p:cNvSpPr txBox="1"/>
          <p:nvPr/>
        </p:nvSpPr>
        <p:spPr>
          <a:xfrm>
            <a:off x="396978" y="2608023"/>
            <a:ext cx="542732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 propósito geral;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estruturada/procedural;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compilada;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de tipagem estática;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relativamente próxima dos recursos de hardware;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portátil entre diferentes arquiteturas e sistemas.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A51732B-D8A7-A8C2-B3F0-064136144E69}"/>
              </a:ext>
            </a:extLst>
          </p:cNvPr>
          <p:cNvSpPr txBox="1"/>
          <p:nvPr/>
        </p:nvSpPr>
        <p:spPr>
          <a:xfrm>
            <a:off x="396978" y="4544975"/>
            <a:ext cx="10286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Ela permite trabalhar tanto com construções de alto nível, como funções e estruturas de controle, quanto com recursos mais próximos da máquina, como: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9651C27-DD8F-1371-7920-6E3FED6550D3}"/>
              </a:ext>
            </a:extLst>
          </p:cNvPr>
          <p:cNvSpPr txBox="1"/>
          <p:nvPr/>
        </p:nvSpPr>
        <p:spPr>
          <a:xfrm>
            <a:off x="501445" y="5342572"/>
            <a:ext cx="37187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endereços de memória;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ponteiros;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representação binária;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manipulação direta de memória.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27211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93355C7-8D1E-4DEB-1A03-F01A6AD1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C9146AAA-F12F-2096-5506-2A47F3F388D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15121F56-6B98-CDE9-FEAB-A0FD06E0D1C8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DE50014A-CF71-5F25-7FD1-C8EFF5AFD354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04AD4D7A-BCD0-785E-425E-D15CBA4970F1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71166C05-AD34-4D1B-D11E-31F3C90D92E8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61AA26FC-F1D3-68C0-8005-A9B6E3078DF2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B47CD0F2-F3C6-88C4-C85F-BA00450D030F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2C9923CA-116A-E8E7-1D67-D4A3A9630CC5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7373A7A4-E475-4651-5FDE-7F736CF65861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8858F5E0-3701-E068-6AE1-F3FFEDD2A997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2AFAB4E1-D4F4-CA9A-F5FA-E45046E13969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58A49EAB-B421-686D-BCE7-911E0F78084F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3234A3A-4770-E6B5-4343-DA8D0B3695E3}"/>
              </a:ext>
            </a:extLst>
          </p:cNvPr>
          <p:cNvSpPr txBox="1"/>
          <p:nvPr/>
        </p:nvSpPr>
        <p:spPr>
          <a:xfrm>
            <a:off x="228137" y="1453859"/>
            <a:ext cx="48279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Onde a linguagem C se encaixa?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7DA1846-1F6C-8AEB-E8F1-C3FE8CA797A5}"/>
              </a:ext>
            </a:extLst>
          </p:cNvPr>
          <p:cNvSpPr txBox="1"/>
          <p:nvPr/>
        </p:nvSpPr>
        <p:spPr>
          <a:xfrm>
            <a:off x="357498" y="2086911"/>
            <a:ext cx="1107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isso, C costuma ser descrita como uma linguagem de </a:t>
            </a:r>
            <a:r>
              <a:rPr lang="pt-BR" b="1" dirty="0"/>
              <a:t>nível intermediário</a:t>
            </a:r>
            <a:r>
              <a:rPr lang="pt-BR" dirty="0"/>
              <a:t>.</a:t>
            </a:r>
          </a:p>
        </p:txBody>
      </p:sp>
      <p:pic>
        <p:nvPicPr>
          <p:cNvPr id="3" name="Imagem 2" descr="Linguagens de programação podem ser classificadas em dois níveis: alto nível  e baixo nível. Essa classificação se refere ao nível de abstração fornecido  pela linguagem em relação ao hardware do computador e">
            <a:extLst>
              <a:ext uri="{FF2B5EF4-FFF2-40B4-BE49-F238E27FC236}">
                <a16:creationId xmlns:a16="http://schemas.microsoft.com/office/drawing/2014/main" id="{C02C14C7-84B1-97D7-D99D-79BC950F6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3471" y="2719962"/>
            <a:ext cx="5068529" cy="358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5BC388A-2121-846A-FF68-40B6AE97F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A8FF3BD5-765C-1040-6837-1F324292710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501FC7CE-86E4-A8CB-2741-68EFECEBCB5E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70051B46-8051-A43A-F989-6F967BCC9013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6555C2E4-6464-7AEF-032A-E0086FFA5421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4DBB12AF-4D54-3FD8-3103-56BE72C69334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A6673F0C-1379-CF94-0152-D49891CD862F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02A6961A-031B-5FBC-749A-350B40F630A2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369B8DB9-21B4-8F76-0C8E-89ACF0CF88FA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0260FED3-4562-730B-74CC-AD94B5A11A2B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A7B9602C-DE67-1C1D-1436-438D2398776C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9248E2EC-FD0A-3614-6870-12C287AE90A1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4D47EB6D-07CF-EE65-3558-D9514CC522E4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6B8AB7-AC27-30C8-20C7-7AB800DCEAD6}"/>
              </a:ext>
            </a:extLst>
          </p:cNvPr>
          <p:cNvSpPr txBox="1"/>
          <p:nvPr/>
        </p:nvSpPr>
        <p:spPr>
          <a:xfrm>
            <a:off x="228137" y="1453859"/>
            <a:ext cx="4629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Onde a linguagem C é utilizada?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6D7591-CC38-83DA-68C7-F9461A88520E}"/>
              </a:ext>
            </a:extLst>
          </p:cNvPr>
          <p:cNvSpPr txBox="1"/>
          <p:nvPr/>
        </p:nvSpPr>
        <p:spPr>
          <a:xfrm>
            <a:off x="357498" y="2086911"/>
            <a:ext cx="1107250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Sistemas operacionais e componentes de sistema;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sistemas embarcados;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microcontroladores;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drivers e comunicação com hardware;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compiladores e ferramentas de sistema;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aplicações de alto desempenho;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bibliotecas;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sistemas de comunicação e redes.</a:t>
            </a:r>
          </a:p>
        </p:txBody>
      </p:sp>
      <p:pic>
        <p:nvPicPr>
          <p:cNvPr id="2" name="Imagem 1" descr="Os Sistemas Operacionais. Diariamente entramos nos nossos… | by Pedro  Henrique | Medium">
            <a:extLst>
              <a:ext uri="{FF2B5EF4-FFF2-40B4-BE49-F238E27FC236}">
                <a16:creationId xmlns:a16="http://schemas.microsoft.com/office/drawing/2014/main" id="{70E9DF2A-A815-2314-D1A6-F7C9D69E1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52" y="1684691"/>
            <a:ext cx="5280150" cy="1944124"/>
          </a:xfrm>
          <a:prstGeom prst="rect">
            <a:avLst/>
          </a:prstGeom>
        </p:spPr>
      </p:pic>
      <p:pic>
        <p:nvPicPr>
          <p:cNvPr id="4" name="Imagem 3" descr="Sistemas embarcados: Entenda o que são, exemplos e mais!">
            <a:extLst>
              <a:ext uri="{FF2B5EF4-FFF2-40B4-BE49-F238E27FC236}">
                <a16:creationId xmlns:a16="http://schemas.microsoft.com/office/drawing/2014/main" id="{3E23C4D8-2F94-3B46-2558-1C5E31ABB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6140" y="3913984"/>
            <a:ext cx="2353860" cy="1570006"/>
          </a:xfrm>
          <a:prstGeom prst="rect">
            <a:avLst/>
          </a:prstGeom>
        </p:spPr>
      </p:pic>
      <p:pic>
        <p:nvPicPr>
          <p:cNvPr id="7" name="Imagem 6" descr="Microcontrolador: o que é, para que serve e principais usos">
            <a:extLst>
              <a:ext uri="{FF2B5EF4-FFF2-40B4-BE49-F238E27FC236}">
                <a16:creationId xmlns:a16="http://schemas.microsoft.com/office/drawing/2014/main" id="{69025D96-D7B4-9D41-11EE-55A748372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72677"/>
            <a:ext cx="2704270" cy="152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80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DE3CB39-A06E-0155-AC54-3690F897A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148FDF83-244E-A716-1603-688E169AC8AE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EE841A3C-F25A-C048-2D05-112FEB3FDEDA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F3058151-21AF-7A3A-4FE8-722AE66F6FF0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64D6F58E-A122-995F-BD32-1ABE02B692A7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65FCE284-6CFE-CF97-EC71-B05209438C91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349ABFC2-5739-81DD-2A08-2AACCA4DEEE8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F1E7A3A7-3162-1DA2-2E9D-233697202A76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AD4363D0-66C2-FCB0-1AFB-5102738DCCF9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A725E754-993B-7C8A-37B9-4CEC7195F9BC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1A9FC6F2-7080-E527-6B4F-0D64C99A6420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FDA3F352-B51E-611C-CF6A-7B32806F499B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F5CCBC95-F75F-3F34-B168-A083F2B48110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9BC73EA-7364-8155-E41D-5B68755C83E9}"/>
              </a:ext>
            </a:extLst>
          </p:cNvPr>
          <p:cNvSpPr txBox="1"/>
          <p:nvPr/>
        </p:nvSpPr>
        <p:spPr>
          <a:xfrm>
            <a:off x="228137" y="1453859"/>
            <a:ext cx="38852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/>
              <a:t>C e os microcontroladores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682A76-AAC4-6922-7781-BAB62401394B}"/>
              </a:ext>
            </a:extLst>
          </p:cNvPr>
          <p:cNvSpPr txBox="1"/>
          <p:nvPr/>
        </p:nvSpPr>
        <p:spPr>
          <a:xfrm>
            <a:off x="357498" y="2086911"/>
            <a:ext cx="110725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sz="2000" dirty="0"/>
              <a:t>Microcontroladores são pequenos sistemas computacionais integrados em um único circuito, normalmente contendo processador, memória, portas de entrada e saída, </a:t>
            </a:r>
            <a:r>
              <a:rPr lang="pt-BR" sz="2000" dirty="0" err="1"/>
              <a:t>teporizadores</a:t>
            </a:r>
            <a:r>
              <a:rPr lang="pt-BR" sz="2000" dirty="0"/>
              <a:t> e interface de comunicação.</a:t>
            </a:r>
          </a:p>
          <a:p>
            <a:r>
              <a:rPr lang="pt-BR" sz="2000" dirty="0"/>
              <a:t>São utilizados em: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automação;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dispositivos IoT;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robótica;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sistemas automotivos;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equipamentos industriais;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000" dirty="0"/>
              <a:t>sensores e sistemas de monitoramento.</a:t>
            </a:r>
          </a:p>
          <a:p>
            <a:pPr lvl="0"/>
            <a:endParaRPr lang="pt-BR" sz="2000" dirty="0"/>
          </a:p>
        </p:txBody>
      </p:sp>
      <p:pic>
        <p:nvPicPr>
          <p:cNvPr id="3" name="Imagem 2" descr="ESP32 NodeMCU Iot com WiFi e Bluetooth - 30 Pinos com CP2102">
            <a:extLst>
              <a:ext uri="{FF2B5EF4-FFF2-40B4-BE49-F238E27FC236}">
                <a16:creationId xmlns:a16="http://schemas.microsoft.com/office/drawing/2014/main" id="{2FEAB64B-A756-A17E-2F84-97F789E7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813" y="2948129"/>
            <a:ext cx="4148187" cy="31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47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6"/>
          <p:cNvSpPr/>
          <p:nvPr/>
        </p:nvSpPr>
        <p:spPr>
          <a:xfrm rot="2700000">
            <a:off x="656596" y="180347"/>
            <a:ext cx="2020557" cy="2020557"/>
          </a:xfrm>
          <a:prstGeom prst="rect">
            <a:avLst/>
          </a:prstGeom>
          <a:solidFill>
            <a:srgbClr val="993399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 rot="2700000">
            <a:off x="10368711" y="-870788"/>
            <a:ext cx="2694077" cy="2694077"/>
          </a:xfrm>
          <a:prstGeom prst="rect">
            <a:avLst/>
          </a:prstGeom>
          <a:solidFill>
            <a:srgbClr val="FFFF00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 rot="2700000">
            <a:off x="9169915" y="406916"/>
            <a:ext cx="2424669" cy="2424669"/>
          </a:xfrm>
          <a:prstGeom prst="rect">
            <a:avLst/>
          </a:prstGeom>
          <a:solidFill>
            <a:srgbClr val="FF9933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 rot="2700000">
            <a:off x="-522473" y="5764027"/>
            <a:ext cx="1616447" cy="1616447"/>
          </a:xfrm>
          <a:prstGeom prst="rect">
            <a:avLst/>
          </a:prstGeom>
          <a:solidFill>
            <a:srgbClr val="33CC33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 rot="2700000">
            <a:off x="9137231" y="4279481"/>
            <a:ext cx="1347039" cy="1347039"/>
          </a:xfrm>
          <a:prstGeom prst="rect">
            <a:avLst/>
          </a:prstGeom>
          <a:solidFill>
            <a:srgbClr val="99CCFF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3203972" y="2746802"/>
            <a:ext cx="57840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rgbClr val="FFFFFF"/>
              </a:buClr>
              <a:buSzPts val="2025"/>
            </a:pPr>
            <a:r>
              <a:rPr lang="pt-BR" sz="27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Bons estudos. Até a próxima aula!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3203972" y="3642925"/>
            <a:ext cx="57840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rgbClr val="FFFFFF"/>
              </a:buClr>
              <a:buSzPts val="1350"/>
            </a:pPr>
            <a:r>
              <a:rPr lang="pt-BR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Prof</a:t>
            </a:r>
            <a:r>
              <a:rPr lang="pt-BR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Ms. Dionizio Porfírio de Assis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1112</Words>
  <Application>Microsoft Office PowerPoint</Application>
  <PresentationFormat>Widescreen</PresentationFormat>
  <Paragraphs>160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Montserrat</vt:lpstr>
      <vt:lpstr>Noto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Nadia Wagih El Kadri</dc:creator>
  <cp:lastModifiedBy>DIONIZIO PORFIRIO DE ASSIS</cp:lastModifiedBy>
  <cp:revision>10</cp:revision>
  <dcterms:created xsi:type="dcterms:W3CDTF">2026-08-03T22:48:27Z</dcterms:created>
  <dcterms:modified xsi:type="dcterms:W3CDTF">2026-08-12T12:37:51Z</dcterms:modified>
</cp:coreProperties>
</file>